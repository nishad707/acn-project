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(Muhammed Nishad):</a:t>
            </a:r>
          </a:p>
          <a:p>
            <a:r>
              <a:t>'Good morning professors and peers. Today Ayush and I are presenting our Advanced Computer Networks project: Load-Aware QUIC Instant ACK. Our project explores connection setup performance in QUIC, building directly upon the ACM IMC 2024 paper ReACKed QUICer. We examine the fundamental tension between low-latency client handshakes and edge server processing contention, and propose an autonomous closed-loop solution.'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(Muhammed Nishad):</a:t>
            </a:r>
          </a:p>
          <a:p>
            <a:r>
              <a:t>'To understand the problem, let's examine modern Internet architecture. When you connect to Cloudflare or Akamai, your QUIC handshake terminates at an edge point-of-presence close to you. However, due to security regulations and centralized key management (Keyless SSL), private keys and TLS certificates are fetched from a central backend. This introduces an internal latency delta-t, typically between 2 to 200 ms. The edge server faces a fundamental question: does it wait for the certificate before replying, or does it send an immediate acknowledgment back to the client?'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(Muhammed Nishad):</a:t>
            </a:r>
          </a:p>
          <a:p>
            <a:r>
              <a:t>'The base paper we selected is ReACKed QUICer, published at ACM IMC 2024. In standard QUIC, servers use Wait-for-Certificate (WFC): they hold back until the certificate is ready and send everything in one coalesced UDP datagram. The authors proposed Instant ACK (IACK): the server splits the response into two flights. It immediately replies with an Initial ACK datagram, and sends the certificate later. They demonstrated that this yields a 15 to 20 millisecond latency improvement across typical Internet RTTs. However, their evaluation had a crucial limitation: it was conducted entirely under static network conditions on idle servers.'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(Muhammed Nishad):</a:t>
            </a:r>
          </a:p>
          <a:p>
            <a:r>
              <a:t>'Let's look at the underlying protocol mathematics defined in RFC 9002. QUIC calculates the initial Probe Timeout as smoothed RTT plus 4 times RTTVAR, which mathematically reduces to roughly 3 times the measured initial RTT. In Wait-for-Certificate, the client's measured RTT accidentally includes the backend certificate delay delta-t. So PTO becomes 3 times (RTT + delta-t). If RTT is 20ms and cert delay is 50ms, the client thinks RTT is 70ms, setting its initial timer to 210ms! With Instant ACK, the client gets an immediate ACK after 20ms, locking in a true 60ms PTO. If packet loss occurs, Instant ACK recovers 150 milliseconds faster. This is the theoretical core of the IMC '24 paper.'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(Muhammed Nishad):</a:t>
            </a:r>
          </a:p>
          <a:p>
            <a:r>
              <a:t>'Now, here is the critical blind spot that we identified. In a real edge server handling thousands of concurrent users, the server experiences CPU contention and crypto worker queueing. Static IACK creates two major problems. First, it doubles the number of outgoing UDP packets, doubling sendmsg syscalls and socket buffer usage right when the server is strained. Second, and more dangerously, if server queueing stretches the effective certificate delay beyond 3 times RTT, the client's tight PTO timer expires before the certificate arrives! The client mistakenly thinks the packet was lost and fires spurious probe packets. Under a traffic surge, thousands of clients send redundant probes simultaneously, triggering an avalanche collapse.'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(Muhammed Nishad):</a:t>
            </a:r>
          </a:p>
          <a:p>
            <a:r>
              <a:t>'This brings us to our proposed improvement: Load-Aware QUIC Instant ACK. We ask: can server contention serve as a dynamic closed-loop feedback signal? Instead of forcing a static policy, our server dynamically monitors active handshakes and CPU load. During peacetime, when headroom is available, it deploys Instant ACK to give clients optimal 15-20ms speedup and tight loss recovery. When a traffic surge occurs, it autonomously falls back to single-flight coalescing under Wait-for-Certificate. This halves system calls, protects kernel socket buffers, and eliminates probe storms. Crucially, this requires zero changes to client software and fully obeys RFC 9000.'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(Muhammed Nishad):</a:t>
            </a:r>
          </a:p>
          <a:p>
            <a:r>
              <a:t>'To prevent the controller from rapidly oscillating between modes, we designed a Schmitt-trigger hysteresis state machine, implemented in loadmonitor.go. If we used a single threshold—say, 6 connections—traffic hovering around 6 would cause continuous mode-flapping. Instead, we established a dual-threshold deadband: tau-low at 4 and tau-high at 8. When active handshakes rise past 8, the server switches to WFC coalescing. It only switches back to Instant ACK once active handshakes drop to 4 or below. In the middle deadband, it preserves its previous state, guaranteeing zero mode-flapping.'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(Muhammed Nishad):</a:t>
            </a:r>
          </a:p>
          <a:p>
            <a:r>
              <a:t>'Slide 8 shows our complete implementation testbed. We built upon the authors' modified quic-go fork, which uses qtls-go1-20 to access TLS 1.3 internal secrets. We implemented three core Go binaries: first, a unified multi-mode server with dynamic hooks in connection.go; second, an asynchronous UDP proxy emulator that injects bidirectional RTT, jitter, and packet loss while using 4MB socket buffers to eliminate kernel drops; and third, a high-precision measurement client that tracks TTFB, timestamp phases t1 through t4, and RFC 9002 PTO probe counts. We also built a real-time Streamlit dashboard at port 8501.'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(Muhammed Nishad):</a:t>
            </a:r>
          </a:p>
          <a:p>
            <a:r>
              <a:t>'To evaluate our system rigorously, we standardized our testbed. All benchmarks were run on an 8-core Apple Silicon host using Go 1.20.7 and 4MB UDP socket buffers to eliminate loopback kernel drops. Our evaluation matrix tests all three policies across four network RTTs from 10 to 100ms, five backend certificate delays from 5 to 180ms, concurrency levels up to 75 clients in baseline and up to 5,000 in stress tests, and channel impairments including 8% packet loss and 45ms jitter. I will now hand over to Ayush Arya to present our empirical results and findings.'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(Ayush Arya):</a:t>
            </a:r>
          </a:p>
          <a:p>
            <a:r>
              <a:t>'Thank you Muhammed. Turning to our experimental findings, Figure 1 presents handshake completion time across network RTTs from 10 to 100 milliseconds under peacetime conditions with a 20ms certificate delay. As shown by the green curve, our Load-Aware policy tracks Static IACK almost identically, achieving a 15 to 20 millisecond latency advantage over Wait-for-Certificate across every single RTT. For instance, at 60ms RTT, WFC requires 101ms, while Load-Aware finishes in 85ms. This proves that during peacetime, our decision engine introduces negligible overhead and captures the full benefits of Instant ACK.'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(Ayush Arya):</a:t>
            </a:r>
          </a:p>
          <a:p>
            <a:r>
              <a:t>'In Figure 2, we evaluated Time to First Byte (TTFB), which measures when the client application receives its first byte of HTTP/3 stream data. A potential concern with Instant ACK is whether splitting the response flights might delay the actual application payload. As Figure 2 clearly demonstrates, TTFB scales linearly with network RTT and is identical across all three policies. This confirms that deploying Instant ACK does not introduce any application-layer penalty.'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(Ayush Arya):</a:t>
            </a:r>
          </a:p>
          <a:p>
            <a:r>
              <a:t>'Figure 3 is the core thesis of our research project. We ramped concurrent client handshakes from 1 to 75. Notice the orange curve: under Static IACK, handshake latency explodes from 46 milliseconds all the way to 128.8 ms at 50 clients, and 148 ms at 75 clients. This severe degradation occurs because Static IACK doubles the sendmsg syscalls, clogging socket buffers. In contrast, look at our Load-Aware curve in green: once load exceeds 8 connections, it autonomously transitions to coalesced WFC, capping median latency at 102.8 ms—a 20.2% improvement over Static IACK, while keeping tail latency strictly bounded.'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(Ayush Arya):</a:t>
            </a:r>
          </a:p>
          <a:p>
            <a:r>
              <a:t>'Figure 4 illustrates exactly how the closed-loop controller behaves internally during this concurrency ramp. The green bars represent Instant ACK decisions, and the blue bars represent WFC coalescing decisions. At 1 to 5 clients, the server makes 100% IACK decisions. At 10 clients, as concurrency crosses our threshold of 8, it begins throttling to WFC. By the time we reach 50 clients, over 93% of incoming connections are autonomously coalesced into single-flight WFC, protecting the socket buffer without requiring any manual administrator tuning.'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(Ayush Arya):</a:t>
            </a:r>
          </a:p>
          <a:p>
            <a:r>
              <a:t>'Figure 5 validates the mathematical failure condition we derived earlier. In this experiment, path RTT was 40ms, which means the client's initial PTO was exactly 3 times 40, or 120ms, marked by the vertical red dotted line. We swept backend certificate delay from 10ms to 180ms. As long as cert delay was under 120ms, Static IACK performed well. However, once cert delay exceeded 120ms, the client's PTO timer expired before the certificate arrived, triggering spurious retransmissions and degrading latency. Load-Aware successfully detects this and avoids timer breakdown.'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(Ayush Arya):</a:t>
            </a:r>
          </a:p>
          <a:p>
            <a:r>
              <a:t>'In Figure 6, we instrumented our measurement client to decompose the handshake timeline into four distinct phases: t1 is time to the first server packet, t2 is the gap waiting for the certificate, t3 is handshake completion, and t4 is TTFB. Under low contention on the left, IACK cuts t1 to 10ms, while t2 remains a clean 20ms. But look at the right graph under high contention: in Static IACK, t2 balloons to over 65ms because uncoalesced ACK packets clog the socket queue. Load-Aware eliminates this queueing expansion by falling back to coalescing.'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(Ayush Arya):</a:t>
            </a:r>
          </a:p>
          <a:p>
            <a:r>
              <a:t>'A critical design question for our hysteresis controller was: how should we choose the threshold values? In Figure 7, we evaluated four deadband configurations at 25 concurrent connections: [2,4], [4,8], [8,16], and [15,30]. We discovered that [2,4] was overly sensitive, causing unnecessary mode switches on minor fluctuations. On the other end, [15,30] was too sluggish, waiting until socket buffers had already congested. The deadband [4, 8] achieved the optimal balance, yielding the lowest median and tail latencies.'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(Ayush Arya):</a:t>
            </a:r>
          </a:p>
          <a:p>
            <a:r>
              <a:t>'Figure 8 is our headline figure, mapping the complete two-dimensional design space across Backend Certificate Delay on the x-axis and Concurrent Handshake Load on the y-axis. The orange region shows where Static IACK is best—strictly in the bottom-left under low load. The blue region shows where Static WFC is best—under heavy load. This proves that any static policy is guaranteed to fail in half the operating space. In contrast, the green shading shows that Load-Aware dynamically selects the optimal strategy across 100% of the entire operational matrix.'</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(Muhammed Nishad):</a:t>
            </a:r>
          </a:p>
          <a:p>
            <a:r>
              <a:t>'To summarize the work completed for Milestone 2: we successfully cloned and verified the IMC '24 artifact repository, built a dedicated Go 1.20 environment, designed and integrated our Schmitt-trigger LoadMonitor into quic-go, built a standalone UDP network emulator proxy and multi-threaded measurement client, executed all 8 baseline experiments, and developed a real-time Streamlit monitoring dashboard. Everything is fully reproducible with a single script.'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(Ayush Arya):</a:t>
            </a:r>
          </a:p>
          <a:p>
            <a:r>
              <a:t>'Looking toward our future work and Milestone 3, we pushed our v1 engine into extreme adversarial stress scenarios. In Experiment B, we simulated an instantaneous flash crowd of 200 clients. In this regime, Load-Aware did not merely fall between WFC and IACK—it beat both static baselines simultaneously, completing in 337ms versus 759ms for IACK and 920ms for WFC! We call this the Hydraulic Relief Valve effect: early connections capture Instant ACK speed, and as load passes 8, subsequent connections are throttled into coalesced WFC, preventing socket queue drops. We also discovered that pegging 8 CPU cores caused less than 1ms difference—proving that QUIC handshake collapse is driven by UDP socket buffer queueing and syscall volume, not background compute.'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(Ayush Arya):</a:t>
            </a:r>
          </a:p>
          <a:p>
            <a:r>
              <a:t>'To address the bottlenecks identified in stress testing, we have already prototyped Load-Aware v2. v2 introduces three key innovations: first, a sub-5-nanosecond lock-free atomic fast-path eliminating mutex convoying; second, arrival velocity prediction—computing dLoad/dt via EWMA to switch to WFC pre-emptively before socket buffers fill; and third, an atomic token-bucket pacer to throttle ACK bursts. In preliminary tests, v2 is 32% faster than v1 in flash crowds and reduces probe storm traffic by 36.2% under 5,000 clients. For Milestone 3, we plan to validate these prototypes across wide-area Internet paths, explore kernel eBPF queue monitoring, and present our final refined v3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(Muhammed Nishad &amp; Ayush Arya):</a:t>
            </a:r>
          </a:p>
          <a:p>
            <a:r>
              <a:t>'In conclusion, Load-Aware QUIC Instant ACK successfully resolves the fundamental trade-off between handshake latency and server overhead in modern edge CDNs. We have validated our core thesis through 8 baseline experiments, verified the RFC 9002 crossover boundary, explored extreme stress limits, and prototyped lock-free v2 optimizations for Milestone 3. We also have our live Streamlit dashboard running and ready for demonstration. Thank you very much, and we are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097280" y="914400"/>
            <a:ext cx="9997135" cy="5029200"/>
          </a:xfrm>
          <a:prstGeom prst="roundRect">
            <a:avLst/>
          </a:prstGeom>
          <a:solidFill>
            <a:srgbClr val="F1F5F9"/>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63040" y="1280160"/>
            <a:ext cx="9265615" cy="4297680"/>
          </a:xfrm>
          <a:prstGeom prst="rect">
            <a:avLst/>
          </a:prstGeom>
          <a:noFill/>
        </p:spPr>
        <p:txBody>
          <a:bodyPr wrap="square">
            <a:spAutoFit/>
          </a:bodyPr>
          <a:lstStyle/>
          <a:p>
            <a:pPr>
              <a:spcAft>
                <a:spcPts val="1400"/>
              </a:spcAft>
              <a:defRPr sz="1100" b="1">
                <a:solidFill>
                  <a:srgbClr val="2563EB"/>
                </a:solidFill>
              </a:defRPr>
            </a:pPr>
            <a:r>
              <a:t>COL724 / COL7524: ADVANCED COMPUTER NETWORKS — PROGRESS PRESENTATION</a:t>
            </a:r>
          </a:p>
          <a:p>
            <a:pPr>
              <a:spcAft>
                <a:spcPts val="600"/>
              </a:spcAft>
              <a:defRPr sz="3200" b="1">
                <a:solidFill>
                  <a:srgbClr val="0F172A"/>
                </a:solidFill>
              </a:defRPr>
            </a:pPr>
            <a:r>
              <a:t>Load-Aware QUIC Instant ACK</a:t>
            </a:r>
          </a:p>
          <a:p>
            <a:pPr>
              <a:spcAft>
                <a:spcPts val="2800"/>
              </a:spcAft>
              <a:defRPr sz="1800">
                <a:solidFill>
                  <a:srgbClr val="64748B"/>
                </a:solidFill>
              </a:defRPr>
            </a:pPr>
            <a:r>
              <a:t>Balancing Handshake Latency and Server Contention in Modern Edge CDNs</a:t>
            </a:r>
          </a:p>
          <a:p>
            <a:pPr>
              <a:spcAft>
                <a:spcPts val="1600"/>
              </a:spcAft>
              <a:defRPr sz="1400" b="1">
                <a:solidFill>
                  <a:srgbClr val="0F172A"/>
                </a:solidFill>
              </a:defRPr>
            </a:pPr>
            <a:r>
              <a:t>Presented by:</a:t>
            </a:r>
            <a:br/>
            <a:r>
              <a:t>Muhammed Nishad (2026MCS2799) &amp; Ayush Arya (2026MCS2802)</a:t>
            </a:r>
          </a:p>
          <a:p>
            <a:pPr>
              <a:defRPr sz="1100">
                <a:solidFill>
                  <a:srgbClr val="64748B"/>
                </a:solidFill>
              </a:defRPr>
            </a:pPr>
            <a:r>
              <a:t>Department of Computer Science &amp; Engineering</a:t>
            </a:r>
            <a:br/>
            <a:r>
              <a:t>Indian Institute of Technology Delhi (IIT Delhi) — Semester 1, 2026–27</a:t>
            </a:r>
            <a:br/>
            <a:r>
              <a:t>Base Paper: ReACKed QUICer (ACM IMC 2024)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2560320" cy="292608"/>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CONTEXT &amp; MOTIVATION</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0F172A"/>
                </a:solidFill>
              </a:defRPr>
            </a:pPr>
            <a:r>
              <a:t>Modern Edge CDNs &amp; The Certificate Delay Gap (Δt)</a:t>
            </a:r>
          </a:p>
          <a:p>
            <a:pPr>
              <a:defRPr sz="1200" i="1">
                <a:solidFill>
                  <a:srgbClr val="64748B"/>
                </a:solidFill>
              </a:defRPr>
            </a:pPr>
            <a:r>
              <a:t>Edge proxies terminate QUIC handshakes, but TLS certificate signing introduces internal delay.</a:t>
            </a:r>
          </a:p>
        </p:txBody>
      </p:sp>
      <p:sp>
        <p:nvSpPr>
          <p:cNvPr id="4" name="TextBox 3"/>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COL724 / COL7524: Advanced Computer Networks (IIT Delhi)  |  Muhammed Nishad  |  Slide 2 of 21</a:t>
            </a:r>
          </a:p>
        </p:txBody>
      </p:sp>
      <p:pic>
        <p:nvPicPr>
          <p:cNvPr id="5" name="Picture 4" descr="diag_cdn_architecture.png"/>
          <p:cNvPicPr>
            <a:picLocks noChangeAspect="1"/>
          </p:cNvPicPr>
          <p:nvPr/>
        </p:nvPicPr>
        <p:blipFill>
          <a:blip r:embed="rId2"/>
          <a:stretch>
            <a:fillRect/>
          </a:stretch>
        </p:blipFill>
        <p:spPr>
          <a:xfrm>
            <a:off x="731520" y="1554480"/>
            <a:ext cx="6217920" cy="4572000"/>
          </a:xfrm>
          <a:prstGeom prst="rect">
            <a:avLst/>
          </a:prstGeom>
        </p:spPr>
      </p:pic>
      <p:sp>
        <p:nvSpPr>
          <p:cNvPr id="6" name="TextBox 5"/>
          <p:cNvSpPr txBox="1"/>
          <p:nvPr/>
        </p:nvSpPr>
        <p:spPr>
          <a:xfrm>
            <a:off x="731520" y="6172200"/>
            <a:ext cx="6217920" cy="274320"/>
          </a:xfrm>
          <a:prstGeom prst="rect">
            <a:avLst/>
          </a:prstGeom>
          <a:noFill/>
        </p:spPr>
        <p:txBody>
          <a:bodyPr wrap="none">
            <a:spAutoFit/>
          </a:bodyPr>
          <a:lstStyle/>
          <a:p>
            <a:pPr algn="ctr">
              <a:defRPr sz="950" i="1">
                <a:solidFill>
                  <a:srgbClr val="64748B"/>
                </a:solidFill>
              </a:defRPr>
            </a:pPr>
            <a:r>
              <a:t>Figure: Client-to-Edge network path vs. Edge-to-Backend crypto delay Δt</a:t>
            </a:r>
          </a:p>
        </p:txBody>
      </p:sp>
      <p:sp>
        <p:nvSpPr>
          <p:cNvPr id="7" name="Rounded Rectangle 6"/>
          <p:cNvSpPr/>
          <p:nvPr/>
        </p:nvSpPr>
        <p:spPr>
          <a:xfrm>
            <a:off x="7132320" y="1554480"/>
            <a:ext cx="42976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691640"/>
            <a:ext cx="3931920" cy="4297680"/>
          </a:xfrm>
          <a:prstGeom prst="rect">
            <a:avLst/>
          </a:prstGeom>
          <a:noFill/>
        </p:spPr>
        <p:txBody>
          <a:bodyPr wrap="square">
            <a:spAutoFit/>
          </a:bodyPr>
          <a:lstStyle/>
          <a:p>
            <a:pPr>
              <a:spcAft>
                <a:spcPts val="800"/>
              </a:spcAft>
              <a:defRPr sz="1300" b="1">
                <a:solidFill>
                  <a:srgbClr val="0F172A"/>
                </a:solidFill>
              </a:defRPr>
            </a:pPr>
            <a:r>
              <a:t>Key Architectural Drivers</a:t>
            </a:r>
          </a:p>
          <a:p>
            <a:pPr>
              <a:spcAft>
                <a:spcPts val="700"/>
              </a:spcAft>
            </a:pPr>
            <a:r>
              <a:rPr b="1">
                <a:solidFill>
                  <a:srgbClr val="2563EB"/>
                </a:solidFill>
              </a:rPr>
              <a:t>• </a:t>
            </a:r>
            <a:r>
              <a:rPr b="1" sz="1100">
                <a:solidFill>
                  <a:srgbClr val="0F172A"/>
                </a:solidFill>
              </a:rPr>
              <a:t>The Edge/Backend Split: </a:t>
            </a:r>
            <a:r>
              <a:rPr sz="1100">
                <a:solidFill>
                  <a:srgbClr val="1E293B"/>
                </a:solidFill>
              </a:rPr>
              <a:t>Modern CDNs (Cloudflare, Akamai) terminate QUIC at distributed edge PoPs, while certificates and private keys remain in centralized backend stores (Keyless SSL).</a:t>
            </a:r>
          </a:p>
          <a:p>
            <a:pPr>
              <a:spcAft>
                <a:spcPts val="700"/>
              </a:spcAft>
            </a:pPr>
            <a:r>
              <a:rPr b="1">
                <a:solidFill>
                  <a:srgbClr val="2563EB"/>
                </a:solidFill>
              </a:rPr>
              <a:t>• </a:t>
            </a:r>
            <a:r>
              <a:rPr b="1" sz="1100">
                <a:solidFill>
                  <a:srgbClr val="0F172A"/>
                </a:solidFill>
              </a:rPr>
              <a:t>Backend Crypto Delay (Δt): </a:t>
            </a:r>
            <a:r>
              <a:rPr sz="1100">
                <a:solidFill>
                  <a:srgbClr val="1E293B"/>
                </a:solidFill>
              </a:rPr>
              <a:t>Fetching certificates, computing RSA/ECDSA cryptographic signatures, or worker queueing introduces an unavoidable delay Δt (typically 2 ms to 200 ms).</a:t>
            </a:r>
          </a:p>
          <a:p>
            <a:pPr>
              <a:spcAft>
                <a:spcPts val="700"/>
              </a:spcAft>
            </a:pPr>
            <a:r>
              <a:rPr b="1">
                <a:solidFill>
                  <a:srgbClr val="2563EB"/>
                </a:solidFill>
              </a:rPr>
              <a:t>• </a:t>
            </a:r>
            <a:r>
              <a:rPr b="1" sz="1100">
                <a:solidFill>
                  <a:srgbClr val="0F172A"/>
                </a:solidFill>
              </a:rPr>
              <a:t>The Protocol Dilemma: </a:t>
            </a:r>
            <a:r>
              <a:rPr sz="1100">
                <a:solidFill>
                  <a:srgbClr val="1E293B"/>
                </a:solidFill>
              </a:rPr>
              <a:t>While waiting for the certificate, the edge server must choose: hold back until cert is ready, or immediately send an acknowledgment?</a:t>
            </a:r>
          </a:p>
          <a:p>
            <a:pPr>
              <a:spcAft>
                <a:spcPts val="700"/>
              </a:spcAft>
            </a:pPr>
            <a:r>
              <a:rPr b="1">
                <a:solidFill>
                  <a:srgbClr val="2563EB"/>
                </a:solidFill>
              </a:rPr>
              <a:t>• </a:t>
            </a:r>
            <a:r>
              <a:rPr b="1" sz="1100">
                <a:solidFill>
                  <a:srgbClr val="0F172A"/>
                </a:solidFill>
              </a:rPr>
              <a:t>Impact on Handshake: </a:t>
            </a:r>
            <a:r>
              <a:rPr sz="1100">
                <a:solidFill>
                  <a:srgbClr val="1E293B"/>
                </a:solidFill>
              </a:rPr>
              <a:t>This choice dictates client RTT estimation, initial loss recovery timers, and server socket queue depth under load.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2560320" cy="292608"/>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BASE RESEARCH PAPER</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0F172A"/>
                </a:solidFill>
              </a:defRPr>
            </a:pPr>
            <a:r>
              <a:t>ReACKed QUICer: Measuring Instant ACKs (ACM IMC 2024)</a:t>
            </a:r>
          </a:p>
          <a:p>
            <a:pPr>
              <a:defRPr sz="1200" i="1">
                <a:solidFill>
                  <a:srgbClr val="64748B"/>
                </a:solidFill>
              </a:defRPr>
            </a:pPr>
            <a:r>
              <a:t>Jonas Mücke, Marcin Nawrocki, Raphael Hiesgen, Thomas C. Schmidt, Matthias Wählisch</a:t>
            </a:r>
          </a:p>
        </p:txBody>
      </p:sp>
      <p:sp>
        <p:nvSpPr>
          <p:cNvPr id="4" name="TextBox 3"/>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COL724 / COL7524: Advanced Computer Networks (IIT Delhi)  |  Muhammed Nishad  |  Slide 3 of 21</a:t>
            </a:r>
          </a:p>
        </p:txBody>
      </p:sp>
      <p:pic>
        <p:nvPicPr>
          <p:cNvPr id="5" name="Picture 4" descr="diag_handshake_flow.png"/>
          <p:cNvPicPr>
            <a:picLocks noChangeAspect="1"/>
          </p:cNvPicPr>
          <p:nvPr/>
        </p:nvPicPr>
        <p:blipFill>
          <a:blip r:embed="rId2"/>
          <a:stretch>
            <a:fillRect/>
          </a:stretch>
        </p:blipFill>
        <p:spPr>
          <a:xfrm>
            <a:off x="731520" y="1554480"/>
            <a:ext cx="6400800" cy="4572000"/>
          </a:xfrm>
          <a:prstGeom prst="rect">
            <a:avLst/>
          </a:prstGeom>
        </p:spPr>
      </p:pic>
      <p:sp>
        <p:nvSpPr>
          <p:cNvPr id="6" name="TextBox 5"/>
          <p:cNvSpPr txBox="1"/>
          <p:nvPr/>
        </p:nvSpPr>
        <p:spPr>
          <a:xfrm>
            <a:off x="731520" y="6172200"/>
            <a:ext cx="6400800" cy="274320"/>
          </a:xfrm>
          <a:prstGeom prst="rect">
            <a:avLst/>
          </a:prstGeom>
          <a:noFill/>
        </p:spPr>
        <p:txBody>
          <a:bodyPr wrap="none">
            <a:spAutoFit/>
          </a:bodyPr>
          <a:lstStyle/>
          <a:p>
            <a:pPr algn="ctr">
              <a:defRPr sz="950" i="1">
                <a:solidFill>
                  <a:srgbClr val="64748B"/>
                </a:solidFill>
              </a:defRPr>
            </a:pPr>
            <a:r>
              <a:t>Figure: Handshake packet flight sequences across WFC, IACK, and Contention Failure</a:t>
            </a:r>
          </a:p>
        </p:txBody>
      </p:sp>
      <p:sp>
        <p:nvSpPr>
          <p:cNvPr id="7" name="Rounded Rectangle 6"/>
          <p:cNvSpPr/>
          <p:nvPr/>
        </p:nvSpPr>
        <p:spPr>
          <a:xfrm>
            <a:off x="7315200" y="1554480"/>
            <a:ext cx="411480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0" y="1691640"/>
            <a:ext cx="3749040" cy="4297680"/>
          </a:xfrm>
          <a:prstGeom prst="rect">
            <a:avLst/>
          </a:prstGeom>
          <a:noFill/>
        </p:spPr>
        <p:txBody>
          <a:bodyPr wrap="square">
            <a:spAutoFit/>
          </a:bodyPr>
          <a:lstStyle/>
          <a:p>
            <a:pPr>
              <a:spcAft>
                <a:spcPts val="800"/>
              </a:spcAft>
              <a:defRPr sz="1300" b="1">
                <a:solidFill>
                  <a:srgbClr val="0F172A"/>
                </a:solidFill>
              </a:defRPr>
            </a:pPr>
            <a:r>
              <a:t>The Paper's Proposal</a:t>
            </a:r>
          </a:p>
          <a:p>
            <a:pPr>
              <a:spcAft>
                <a:spcPts val="700"/>
              </a:spcAft>
            </a:pPr>
            <a:r>
              <a:rPr b="1">
                <a:solidFill>
                  <a:srgbClr val="2563EB"/>
                </a:solidFill>
              </a:rPr>
              <a:t>• </a:t>
            </a:r>
            <a:r>
              <a:rPr b="1" sz="1100">
                <a:solidFill>
                  <a:srgbClr val="0F172A"/>
                </a:solidFill>
              </a:rPr>
              <a:t>Status Quo (WFC): </a:t>
            </a:r>
            <a:r>
              <a:rPr sz="1100">
                <a:solidFill>
                  <a:srgbClr val="1E293B"/>
                </a:solidFill>
              </a:rPr>
              <a:t>Wait-for-Certificate: Server waits for Δt, then coalesces Initial[ACK, CRYPTO] + Handshake[CRYPTO] into 1 UDP packet flight.</a:t>
            </a:r>
          </a:p>
          <a:p>
            <a:pPr>
              <a:spcAft>
                <a:spcPts val="700"/>
              </a:spcAft>
            </a:pPr>
            <a:r>
              <a:rPr b="1">
                <a:solidFill>
                  <a:srgbClr val="2563EB"/>
                </a:solidFill>
              </a:rPr>
              <a:t>• </a:t>
            </a:r>
            <a:r>
              <a:rPr b="1" sz="1100">
                <a:solidFill>
                  <a:srgbClr val="0F172A"/>
                </a:solidFill>
              </a:rPr>
              <a:t>The Paper's Innovation (IACK): </a:t>
            </a:r>
            <a:r>
              <a:rPr sz="1100">
                <a:solidFill>
                  <a:srgbClr val="1E293B"/>
                </a:solidFill>
              </a:rPr>
              <a:t>Instant ACK: Server immediately transmits an uncoalesced Initial[ACK] upon ClientHello reception, sending the certificate flight later.</a:t>
            </a:r>
          </a:p>
          <a:p>
            <a:pPr>
              <a:spcAft>
                <a:spcPts val="700"/>
              </a:spcAft>
            </a:pPr>
            <a:r>
              <a:rPr b="1">
                <a:solidFill>
                  <a:srgbClr val="2563EB"/>
                </a:solidFill>
              </a:rPr>
              <a:t>• </a:t>
            </a:r>
            <a:r>
              <a:rPr b="1" sz="1100">
                <a:solidFill>
                  <a:srgbClr val="0F172A"/>
                </a:solidFill>
              </a:rPr>
              <a:t>Reported Advantage: </a:t>
            </a:r>
            <a:r>
              <a:rPr sz="1100">
                <a:solidFill>
                  <a:srgbClr val="1E293B"/>
                </a:solidFill>
              </a:rPr>
              <a:t>Cuts initial handshake duration by 15–20 ms across realistic network paths by decoupling packet acknowledgment from crypto delay.</a:t>
            </a:r>
          </a:p>
          <a:p>
            <a:pPr>
              <a:spcAft>
                <a:spcPts val="700"/>
              </a:spcAft>
            </a:pPr>
            <a:r>
              <a:rPr b="1">
                <a:solidFill>
                  <a:srgbClr val="2563EB"/>
                </a:solidFill>
              </a:rPr>
              <a:t>• </a:t>
            </a:r>
            <a:r>
              <a:rPr b="1" sz="1100">
                <a:solidFill>
                  <a:srgbClr val="0F172A"/>
                </a:solidFill>
              </a:rPr>
              <a:t>Paper's Scope: </a:t>
            </a:r>
            <a:r>
              <a:rPr sz="1100">
                <a:solidFill>
                  <a:srgbClr val="1E293B"/>
                </a:solidFill>
              </a:rPr>
              <a:t>The authors evaluated IACK exclusively under static network settings (fixed RTTs and packet loss rates) on idle servers.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2560320" cy="292608"/>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THEORETICAL MECHANICS</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0F172A"/>
                </a:solidFill>
              </a:defRPr>
            </a:pPr>
            <a:r>
              <a:t>RFC 9002 Timer Math: Probe Timeout (PTO) Inflation</a:t>
            </a:r>
          </a:p>
          <a:p>
            <a:pPr>
              <a:defRPr sz="1200" i="1">
                <a:solidFill>
                  <a:srgbClr val="64748B"/>
                </a:solidFill>
              </a:defRPr>
            </a:pPr>
            <a:r>
              <a:t>Under Wait-for-Certificate, internal server delay artificially inflates the client's loss recovery timer.</a:t>
            </a:r>
          </a:p>
        </p:txBody>
      </p:sp>
      <p:sp>
        <p:nvSpPr>
          <p:cNvPr id="4" name="TextBox 3"/>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COL724 / COL7524: Advanced Computer Networks (IIT Delhi)  |  Muhammed Nishad  |  Slide 4 of 21</a:t>
            </a:r>
          </a:p>
        </p:txBody>
      </p:sp>
      <p:sp>
        <p:nvSpPr>
          <p:cNvPr id="5" name="Rounded Rectangle 4"/>
          <p:cNvSpPr/>
          <p:nvPr/>
        </p:nvSpPr>
        <p:spPr>
          <a:xfrm>
            <a:off x="731520" y="1554480"/>
            <a:ext cx="512064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754880" cy="4297680"/>
          </a:xfrm>
          <a:prstGeom prst="rect">
            <a:avLst/>
          </a:prstGeom>
          <a:noFill/>
        </p:spPr>
        <p:txBody>
          <a:bodyPr wrap="square">
            <a:spAutoFit/>
          </a:bodyPr>
          <a:lstStyle/>
          <a:p>
            <a:pPr>
              <a:spcAft>
                <a:spcPts val="800"/>
              </a:spcAft>
              <a:defRPr sz="1300" b="1">
                <a:solidFill>
                  <a:srgbClr val="0F172A"/>
                </a:solidFill>
              </a:defRPr>
            </a:pPr>
            <a:r>
              <a:t>RFC 9002 Loss Detection Formula</a:t>
            </a:r>
          </a:p>
          <a:p>
            <a:pPr>
              <a:spcAft>
                <a:spcPts val="700"/>
              </a:spcAft>
            </a:pPr>
            <a:r>
              <a:rPr b="1">
                <a:solidFill>
                  <a:srgbClr val="2563EB"/>
                </a:solidFill>
              </a:rPr>
              <a:t>• </a:t>
            </a:r>
            <a:r>
              <a:rPr b="1" sz="1100">
                <a:solidFill>
                  <a:srgbClr val="0F172A"/>
                </a:solidFill>
              </a:rPr>
              <a:t>Initial PTO Equation: </a:t>
            </a:r>
            <a:r>
              <a:rPr sz="1100">
                <a:solidFill>
                  <a:srgbClr val="1E293B"/>
                </a:solidFill>
              </a:rPr>
              <a:t>Under RFC 9002, initial Probe Timeout is computed from the first packet sample:
  PTO_initial ≈ smoothed_rtt + 4 × rttvar ≈ 3 × RTT_measured</a:t>
            </a:r>
          </a:p>
          <a:p>
            <a:pPr>
              <a:spcAft>
                <a:spcPts val="700"/>
              </a:spcAft>
            </a:pPr>
            <a:r>
              <a:rPr b="1">
                <a:solidFill>
                  <a:srgbClr val="2563EB"/>
                </a:solidFill>
              </a:rPr>
              <a:t>• </a:t>
            </a:r>
            <a:r>
              <a:rPr b="1" sz="1100">
                <a:solidFill>
                  <a:srgbClr val="0F172A"/>
                </a:solidFill>
              </a:rPr>
              <a:t>WFC Timer Inflation: </a:t>
            </a:r>
            <a:r>
              <a:rPr sz="1100">
                <a:solidFill>
                  <a:srgbClr val="1E293B"/>
                </a:solidFill>
              </a:rPr>
              <a:t>In WFC, client clock measures network RTT plus backend delay Δt:
  RTT_measured = RTT_net + Δt
  PTO_WFC = 3 × (RTT_net + Δt)</a:t>
            </a:r>
          </a:p>
          <a:p>
            <a:pPr>
              <a:spcAft>
                <a:spcPts val="700"/>
              </a:spcAft>
            </a:pPr>
            <a:r>
              <a:rPr b="1">
                <a:solidFill>
                  <a:srgbClr val="2563EB"/>
                </a:solidFill>
              </a:rPr>
              <a:t>• </a:t>
            </a:r>
            <a:r>
              <a:rPr b="1" sz="1100">
                <a:solidFill>
                  <a:srgbClr val="0F172A"/>
                </a:solidFill>
              </a:rPr>
              <a:t>Instant ACK Calibration: </a:t>
            </a:r>
            <a:r>
              <a:rPr sz="1100">
                <a:solidFill>
                  <a:srgbClr val="1E293B"/>
                </a:solidFill>
              </a:rPr>
              <a:t>In IACK, client measures true network flight time:
  RTT_measured = RTT_net
  PTO_IACK = 3 × RTT_net</a:t>
            </a:r>
          </a:p>
          <a:p>
            <a:pPr>
              <a:spcAft>
                <a:spcPts val="700"/>
              </a:spcAft>
            </a:pPr>
            <a:r>
              <a:rPr b="1">
                <a:solidFill>
                  <a:srgbClr val="2563EB"/>
                </a:solidFill>
              </a:rPr>
              <a:t>• </a:t>
            </a:r>
            <a:r>
              <a:rPr b="1" sz="1100">
                <a:solidFill>
                  <a:srgbClr val="0F172A"/>
                </a:solidFill>
              </a:rPr>
              <a:t>The 3×Δt Loss Penalty: </a:t>
            </a:r>
            <a:r>
              <a:rPr sz="1100">
                <a:solidFill>
                  <a:srgbClr val="1E293B"/>
                </a:solidFill>
              </a:rPr>
              <a:t>If packet loss occurs during handshake, WFC delays loss recovery probes by up to 3×Δt (e.g., +150ms for a 50ms cert delay).</a:t>
            </a:r>
          </a:p>
        </p:txBody>
      </p:sp>
      <p:sp>
        <p:nvSpPr>
          <p:cNvPr id="7" name="Rounded Rectangle 6"/>
          <p:cNvSpPr/>
          <p:nvPr/>
        </p:nvSpPr>
        <p:spPr>
          <a:xfrm>
            <a:off x="6217920" y="1554480"/>
            <a:ext cx="52120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4297680"/>
          </a:xfrm>
          <a:prstGeom prst="rect">
            <a:avLst/>
          </a:prstGeom>
          <a:noFill/>
        </p:spPr>
        <p:txBody>
          <a:bodyPr wrap="square">
            <a:spAutoFit/>
          </a:bodyPr>
          <a:lstStyle/>
          <a:p>
            <a:pPr>
              <a:spcAft>
                <a:spcPts val="800"/>
              </a:spcAft>
              <a:defRPr sz="1300" b="1">
                <a:solidFill>
                  <a:srgbClr val="0F172A"/>
                </a:solidFill>
              </a:defRPr>
            </a:pPr>
            <a:r>
              <a:t>Numerical Walkthrough (RTT=20ms, Δt=50ms)</a:t>
            </a:r>
          </a:p>
          <a:p>
            <a:pPr>
              <a:spcAft>
                <a:spcPts val="700"/>
              </a:spcAft>
            </a:pPr>
            <a:r>
              <a:rPr b="1">
                <a:solidFill>
                  <a:srgbClr val="2563EB"/>
                </a:solidFill>
              </a:rPr>
              <a:t>• </a:t>
            </a:r>
            <a:r>
              <a:rPr b="1" sz="1100">
                <a:solidFill>
                  <a:srgbClr val="0F172A"/>
                </a:solidFill>
              </a:rPr>
              <a:t>True Network RTT: </a:t>
            </a:r>
            <a:r>
              <a:rPr sz="1100">
                <a:solidFill>
                  <a:srgbClr val="1E293B"/>
                </a:solidFill>
              </a:rPr>
              <a:t>20 ms bidirectional path latency.</a:t>
            </a:r>
          </a:p>
          <a:p>
            <a:pPr>
              <a:spcAft>
                <a:spcPts val="700"/>
              </a:spcAft>
            </a:pPr>
            <a:r>
              <a:rPr b="1">
                <a:solidFill>
                  <a:srgbClr val="2563EB"/>
                </a:solidFill>
              </a:rPr>
              <a:t>• </a:t>
            </a:r>
            <a:r>
              <a:rPr b="1" sz="1100">
                <a:solidFill>
                  <a:srgbClr val="0F172A"/>
                </a:solidFill>
              </a:rPr>
              <a:t>WFC Client Perception: </a:t>
            </a:r>
            <a:r>
              <a:rPr sz="1100">
                <a:solidFill>
                  <a:srgbClr val="1E293B"/>
                </a:solidFill>
              </a:rPr>
              <a:t>Client receives first packet at 20 + 50 = 70 ms.
Initial PTO is set to: 3 × 70 ms = 210 ms!</a:t>
            </a:r>
          </a:p>
          <a:p>
            <a:pPr>
              <a:spcAft>
                <a:spcPts val="700"/>
              </a:spcAft>
            </a:pPr>
            <a:r>
              <a:rPr b="1">
                <a:solidFill>
                  <a:srgbClr val="2563EB"/>
                </a:solidFill>
              </a:rPr>
              <a:t>• </a:t>
            </a:r>
            <a:r>
              <a:rPr b="1" sz="1100">
                <a:solidFill>
                  <a:srgbClr val="0F172A"/>
                </a:solidFill>
              </a:rPr>
              <a:t>IACK Client Perception: </a:t>
            </a:r>
            <a:r>
              <a:rPr sz="1100">
                <a:solidFill>
                  <a:srgbClr val="1E293B"/>
                </a:solidFill>
              </a:rPr>
              <a:t>Client receives Instant ACK at exactly 20 ms.
Initial PTO is calibrated to: 3 × 20 ms = 60 ms!</a:t>
            </a:r>
          </a:p>
          <a:p>
            <a:pPr>
              <a:spcAft>
                <a:spcPts val="700"/>
              </a:spcAft>
            </a:pPr>
            <a:r>
              <a:rPr b="1">
                <a:solidFill>
                  <a:srgbClr val="2563EB"/>
                </a:solidFill>
              </a:rPr>
              <a:t>• </a:t>
            </a:r>
            <a:r>
              <a:rPr b="1" sz="1100">
                <a:solidFill>
                  <a:srgbClr val="0F172A"/>
                </a:solidFill>
              </a:rPr>
              <a:t>Handshake Recovery Speed: </a:t>
            </a:r>
            <a:r>
              <a:rPr sz="1100">
                <a:solidFill>
                  <a:srgbClr val="1E293B"/>
                </a:solidFill>
              </a:rPr>
              <a:t>If a handshake packet drops in transit, IACK fires loss recovery in 60 ms. WFC stalls for 210 ms—a massive 150 ms stall!</a:t>
            </a:r>
          </a:p>
          <a:p>
            <a:pPr>
              <a:spcAft>
                <a:spcPts val="700"/>
              </a:spcAft>
            </a:pPr>
            <a:r>
              <a:rPr b="1">
                <a:solidFill>
                  <a:srgbClr val="2563EB"/>
                </a:solidFill>
              </a:rPr>
              <a:t>• </a:t>
            </a:r>
            <a:r>
              <a:rPr b="1" sz="1100">
                <a:solidFill>
                  <a:srgbClr val="0F172A"/>
                </a:solidFill>
              </a:rPr>
              <a:t>Takeaway: </a:t>
            </a:r>
            <a:r>
              <a:rPr sz="1100">
                <a:solidFill>
                  <a:srgbClr val="1E293B"/>
                </a:solidFill>
              </a:rPr>
              <a:t>This explains why Instant ACK is so compelling in lossy mobile and wireless networks.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2560320" cy="292608"/>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PROBLEM STATEMENT &amp; BLIND SPOT</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0F172A"/>
                </a:solidFill>
              </a:defRPr>
            </a:pPr>
            <a:r>
              <a:t>The Vulnerability of Static IACK: Probe Storms Under Load</a:t>
            </a:r>
          </a:p>
          <a:p>
            <a:pPr>
              <a:defRPr sz="1200" i="1">
                <a:solidFill>
                  <a:srgbClr val="64748B"/>
                </a:solidFill>
              </a:defRPr>
            </a:pPr>
            <a:r>
              <a:t>When server contention delays certificates beyond the tight PTO, clients trigger spurious probe storms.</a:t>
            </a:r>
          </a:p>
        </p:txBody>
      </p:sp>
      <p:sp>
        <p:nvSpPr>
          <p:cNvPr id="4" name="TextBox 3"/>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COL724 / COL7524: Advanced Computer Networks (IIT Delhi)  |  Muhammed Nishad  |  Slide 5 of 21</a:t>
            </a:r>
          </a:p>
        </p:txBody>
      </p:sp>
      <p:sp>
        <p:nvSpPr>
          <p:cNvPr id="5" name="Rounded Rectangle 4"/>
          <p:cNvSpPr/>
          <p:nvPr/>
        </p:nvSpPr>
        <p:spPr>
          <a:xfrm>
            <a:off x="731520" y="1554480"/>
            <a:ext cx="512064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754880" cy="4297680"/>
          </a:xfrm>
          <a:prstGeom prst="rect">
            <a:avLst/>
          </a:prstGeom>
          <a:noFill/>
        </p:spPr>
        <p:txBody>
          <a:bodyPr wrap="square">
            <a:spAutoFit/>
          </a:bodyPr>
          <a:lstStyle/>
          <a:p>
            <a:pPr>
              <a:spcAft>
                <a:spcPts val="800"/>
              </a:spcAft>
              <a:defRPr sz="1300" b="1">
                <a:solidFill>
                  <a:srgbClr val="0F172A"/>
                </a:solidFill>
              </a:defRPr>
            </a:pPr>
            <a:r>
              <a:t>Static IACK Contention Bottlenecks</a:t>
            </a:r>
          </a:p>
          <a:p>
            <a:pPr>
              <a:spcAft>
                <a:spcPts val="700"/>
              </a:spcAft>
            </a:pPr>
            <a:r>
              <a:rPr b="1">
                <a:solidFill>
                  <a:srgbClr val="2563EB"/>
                </a:solidFill>
              </a:rPr>
              <a:t>• </a:t>
            </a:r>
            <a:r>
              <a:rPr b="1" sz="1100">
                <a:solidFill>
                  <a:srgbClr val="0F172A"/>
                </a:solidFill>
              </a:rPr>
              <a:t>Syscall &amp; Buffer Pressure: </a:t>
            </a:r>
            <a:r>
              <a:rPr sz="1100">
                <a:solidFill>
                  <a:srgbClr val="1E293B"/>
                </a:solidFill>
              </a:rPr>
              <a:t>Static IACK emits 2 separate UDP datagrams per connection instead of 1. Under surges, this doubles sendmsg syscalls and socket buffer consumption.</a:t>
            </a:r>
          </a:p>
          <a:p>
            <a:pPr>
              <a:spcAft>
                <a:spcPts val="700"/>
              </a:spcAft>
            </a:pPr>
            <a:r>
              <a:rPr b="1">
                <a:solidFill>
                  <a:srgbClr val="2563EB"/>
                </a:solidFill>
              </a:rPr>
              <a:t>• </a:t>
            </a:r>
            <a:r>
              <a:rPr b="1" sz="1100">
                <a:solidFill>
                  <a:srgbClr val="0F172A"/>
                </a:solidFill>
              </a:rPr>
              <a:t>The Crossover Failure Condition: </a:t>
            </a:r>
            <a:r>
              <a:rPr sz="1100">
                <a:solidFill>
                  <a:srgbClr val="1E293B"/>
                </a:solidFill>
              </a:rPr>
              <a:t>If server CPU starvation or crypto worker queues delay the certificate flight such that:
  Δt_effective &gt; PTO_IACK = 3 × RTT_net</a:t>
            </a:r>
          </a:p>
          <a:p>
            <a:pPr>
              <a:spcAft>
                <a:spcPts val="700"/>
              </a:spcAft>
            </a:pPr>
            <a:r>
              <a:rPr b="1">
                <a:solidFill>
                  <a:srgbClr val="2563EB"/>
                </a:solidFill>
              </a:rPr>
              <a:t>• </a:t>
            </a:r>
            <a:r>
              <a:rPr b="1" sz="1100">
                <a:solidFill>
                  <a:srgbClr val="0F172A"/>
                </a:solidFill>
              </a:rPr>
              <a:t>Premature Timer Expiration: </a:t>
            </a:r>
            <a:r>
              <a:rPr sz="1100">
                <a:solidFill>
                  <a:srgbClr val="1E293B"/>
                </a:solidFill>
              </a:rPr>
              <a:t>The client's tight PTO timer expires before the certificate packet arrives! The client falsely concludes the flight was lost.</a:t>
            </a:r>
          </a:p>
          <a:p>
            <a:pPr>
              <a:spcAft>
                <a:spcPts val="700"/>
              </a:spcAft>
            </a:pPr>
            <a:r>
              <a:rPr b="1">
                <a:solidFill>
                  <a:srgbClr val="2563EB"/>
                </a:solidFill>
              </a:rPr>
              <a:t>• </a:t>
            </a:r>
            <a:r>
              <a:rPr b="1" sz="1100">
                <a:solidFill>
                  <a:srgbClr val="0F172A"/>
                </a:solidFill>
              </a:rPr>
              <a:t>Spurious PTO Probe Storms: </a:t>
            </a:r>
            <a:r>
              <a:rPr sz="1100">
                <a:solidFill>
                  <a:srgbClr val="1E293B"/>
                </a:solidFill>
              </a:rPr>
              <a:t>Clients flood the server with PTO probe packets right when the server is already bottlenecked, causing UDP packet drops and handshake collapse.</a:t>
            </a:r>
          </a:p>
        </p:txBody>
      </p:sp>
      <p:sp>
        <p:nvSpPr>
          <p:cNvPr id="7" name="Rounded Rectangle 6"/>
          <p:cNvSpPr/>
          <p:nvPr/>
        </p:nvSpPr>
        <p:spPr>
          <a:xfrm>
            <a:off x="6217920" y="1554480"/>
            <a:ext cx="52120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4297680"/>
          </a:xfrm>
          <a:prstGeom prst="rect">
            <a:avLst/>
          </a:prstGeom>
          <a:noFill/>
        </p:spPr>
        <p:txBody>
          <a:bodyPr wrap="square">
            <a:spAutoFit/>
          </a:bodyPr>
          <a:lstStyle/>
          <a:p>
            <a:pPr>
              <a:spcAft>
                <a:spcPts val="800"/>
              </a:spcAft>
              <a:defRPr sz="1300" b="1">
                <a:solidFill>
                  <a:srgbClr val="0F172A"/>
                </a:solidFill>
              </a:defRPr>
            </a:pPr>
            <a:r>
              <a:t>Contention Regime Comparison</a:t>
            </a:r>
          </a:p>
          <a:p>
            <a:pPr>
              <a:spcAft>
                <a:spcPts val="700"/>
              </a:spcAft>
            </a:pPr>
            <a:r>
              <a:rPr b="1">
                <a:solidFill>
                  <a:srgbClr val="2563EB"/>
                </a:solidFill>
              </a:rPr>
              <a:t>• </a:t>
            </a:r>
            <a:r>
              <a:rPr b="1" sz="1100">
                <a:solidFill>
                  <a:srgbClr val="0F172A"/>
                </a:solidFill>
              </a:rPr>
              <a:t>Light Load (Δt = 20ms, RTT = 20ms): </a:t>
            </a:r>
            <a:r>
              <a:rPr sz="1100">
                <a:solidFill>
                  <a:srgbClr val="1E293B"/>
                </a:solidFill>
              </a:rPr>
              <a:t>• Client PTO = 60 ms
• Cert arrives at: 40 ms
• Result: Δt_effective &lt; PTO -&gt; Successful Handshake!</a:t>
            </a:r>
          </a:p>
          <a:p>
            <a:pPr>
              <a:spcAft>
                <a:spcPts val="700"/>
              </a:spcAft>
            </a:pPr>
            <a:r>
              <a:rPr b="1">
                <a:solidFill>
                  <a:srgbClr val="2563EB"/>
                </a:solidFill>
              </a:rPr>
              <a:t>• </a:t>
            </a:r>
            <a:r>
              <a:rPr b="1" sz="1100">
                <a:solidFill>
                  <a:srgbClr val="0F172A"/>
                </a:solidFill>
              </a:rPr>
              <a:t>Surge Load (Δt_effective = 80ms, RTT = 20ms): </a:t>
            </a:r>
            <a:r>
              <a:rPr sz="1100">
                <a:solidFill>
                  <a:srgbClr val="1E293B"/>
                </a:solidFill>
              </a:rPr>
              <a:t>• Client PTO = 60 ms
• Cert arrives at: 100 ms (queued)
• Result: Δt_effective &gt; PTO -&gt; Client timer fires at 60ms!
• Spurious Initial[Probe] datagrams flood the server socket queue.</a:t>
            </a:r>
          </a:p>
          <a:p>
            <a:pPr>
              <a:spcAft>
                <a:spcPts val="700"/>
              </a:spcAft>
            </a:pPr>
            <a:r>
              <a:rPr b="1">
                <a:solidFill>
                  <a:srgbClr val="2563EB"/>
                </a:solidFill>
              </a:rPr>
              <a:t>• </a:t>
            </a:r>
            <a:r>
              <a:rPr b="1" sz="1100">
                <a:solidFill>
                  <a:srgbClr val="0F172A"/>
                </a:solidFill>
              </a:rPr>
              <a:t>The Core Flaw: </a:t>
            </a:r>
            <a:r>
              <a:rPr sz="1100">
                <a:solidFill>
                  <a:srgbClr val="1E293B"/>
                </a:solidFill>
              </a:rPr>
              <a:t>Static IACK assumes certificates always arrive promptly. Under load, aggressive timers become a liability!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2560320" cy="292608"/>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PROPOSED EXTENSION</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0F172A"/>
                </a:solidFill>
              </a:defRPr>
            </a:pPr>
            <a:r>
              <a:t>Load-Aware QUIC Instant ACK: Adaptive Closed-Loop Control</a:t>
            </a:r>
          </a:p>
          <a:p>
            <a:pPr>
              <a:defRPr sz="1200" i="1">
                <a:solidFill>
                  <a:srgbClr val="64748B"/>
                </a:solidFill>
              </a:defRPr>
            </a:pPr>
            <a:r>
              <a:t>Dynamically evaluate server contention to balance low handshake latency and overload protection.</a:t>
            </a:r>
          </a:p>
        </p:txBody>
      </p:sp>
      <p:sp>
        <p:nvSpPr>
          <p:cNvPr id="4" name="TextBox 3"/>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COL724 / COL7524: Advanced Computer Networks (IIT Delhi)  |  Muhammed Nishad  |  Slide 6 of 21</a:t>
            </a:r>
          </a:p>
        </p:txBody>
      </p:sp>
      <p:sp>
        <p:nvSpPr>
          <p:cNvPr id="5" name="Rounded Rectangle 4"/>
          <p:cNvSpPr/>
          <p:nvPr/>
        </p:nvSpPr>
        <p:spPr>
          <a:xfrm>
            <a:off x="731520" y="1554480"/>
            <a:ext cx="512064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754880" cy="4297680"/>
          </a:xfrm>
          <a:prstGeom prst="rect">
            <a:avLst/>
          </a:prstGeom>
          <a:noFill/>
        </p:spPr>
        <p:txBody>
          <a:bodyPr wrap="square">
            <a:spAutoFit/>
          </a:bodyPr>
          <a:lstStyle/>
          <a:p>
            <a:pPr>
              <a:spcAft>
                <a:spcPts val="800"/>
              </a:spcAft>
              <a:defRPr sz="1300" b="1">
                <a:solidFill>
                  <a:srgbClr val="0F172A"/>
                </a:solidFill>
              </a:defRPr>
            </a:pPr>
            <a:r>
              <a:t>Our Research Contribution</a:t>
            </a:r>
          </a:p>
          <a:p>
            <a:pPr>
              <a:spcAft>
                <a:spcPts val="700"/>
              </a:spcAft>
            </a:pPr>
            <a:r>
              <a:rPr b="1">
                <a:solidFill>
                  <a:srgbClr val="2563EB"/>
                </a:solidFill>
              </a:rPr>
              <a:t>• </a:t>
            </a:r>
            <a:r>
              <a:rPr b="1" sz="1100">
                <a:solidFill>
                  <a:srgbClr val="0F172A"/>
                </a:solidFill>
              </a:rPr>
              <a:t>The Research Question: </a:t>
            </a:r>
            <a:r>
              <a:rPr sz="1100">
                <a:solidFill>
                  <a:srgbClr val="1E293B"/>
                </a:solidFill>
              </a:rPr>
              <a:t>Can server-side processing contention (concurrent handshakes, CPU load) serve as an active feedback signal to dynamically select the optimal ACK policy?</a:t>
            </a:r>
          </a:p>
          <a:p>
            <a:pPr>
              <a:spcAft>
                <a:spcPts val="700"/>
              </a:spcAft>
            </a:pPr>
            <a:r>
              <a:rPr b="1">
                <a:solidFill>
                  <a:srgbClr val="2563EB"/>
                </a:solidFill>
              </a:rPr>
              <a:t>• </a:t>
            </a:r>
            <a:r>
              <a:rPr b="1" sz="1100">
                <a:solidFill>
                  <a:srgbClr val="0F172A"/>
                </a:solidFill>
              </a:rPr>
              <a:t>Adaptive Dual-Regime Server: </a:t>
            </a:r>
            <a:r>
              <a:rPr sz="1100">
                <a:solidFill>
                  <a:srgbClr val="1E293B"/>
                </a:solidFill>
              </a:rPr>
              <a:t>Instead of a rigid static policy, the server continuously monitors its operating state and autonomously switches modes:</a:t>
            </a:r>
          </a:p>
          <a:p>
            <a:pPr>
              <a:spcAft>
                <a:spcPts val="700"/>
              </a:spcAft>
            </a:pPr>
            <a:r>
              <a:rPr b="1">
                <a:solidFill>
                  <a:srgbClr val="2563EB"/>
                </a:solidFill>
              </a:rPr>
              <a:t>• </a:t>
            </a:r>
            <a:r>
              <a:rPr b="1" sz="1100">
                <a:solidFill>
                  <a:srgbClr val="0F172A"/>
                </a:solidFill>
              </a:rPr>
              <a:t>Peacetime / Low Contention: </a:t>
            </a:r>
            <a:r>
              <a:rPr sz="1100">
                <a:solidFill>
                  <a:srgbClr val="1E293B"/>
                </a:solidFill>
              </a:rPr>
              <a:t>Deploy Instant ACK -&gt; Delivers true RTT measurement, tight initial PTO (3×RTT), and 15–20ms faster connection setup.</a:t>
            </a:r>
          </a:p>
          <a:p>
            <a:pPr>
              <a:spcAft>
                <a:spcPts val="700"/>
              </a:spcAft>
            </a:pPr>
            <a:r>
              <a:rPr b="1">
                <a:solidFill>
                  <a:srgbClr val="2563EB"/>
                </a:solidFill>
              </a:rPr>
              <a:t>• </a:t>
            </a:r>
            <a:r>
              <a:rPr b="1" sz="1100">
                <a:solidFill>
                  <a:srgbClr val="0F172A"/>
                </a:solidFill>
              </a:rPr>
              <a:t>Surge / High Contention: </a:t>
            </a:r>
            <a:r>
              <a:rPr sz="1100">
                <a:solidFill>
                  <a:srgbClr val="1E293B"/>
                </a:solidFill>
              </a:rPr>
              <a:t>Gracefully fallback to Wait-for-Certificate -&gt; Coalesces packets, halves sendmsg syscalls, protects UDP socket buffers, and suppresses spurious PTO probes.</a:t>
            </a:r>
          </a:p>
        </p:txBody>
      </p:sp>
      <p:sp>
        <p:nvSpPr>
          <p:cNvPr id="7" name="Rounded Rectangle 6"/>
          <p:cNvSpPr/>
          <p:nvPr/>
        </p:nvSpPr>
        <p:spPr>
          <a:xfrm>
            <a:off x="6217920" y="1554480"/>
            <a:ext cx="52120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4297680"/>
          </a:xfrm>
          <a:prstGeom prst="rect">
            <a:avLst/>
          </a:prstGeom>
          <a:noFill/>
        </p:spPr>
        <p:txBody>
          <a:bodyPr wrap="square">
            <a:spAutoFit/>
          </a:bodyPr>
          <a:lstStyle/>
          <a:p>
            <a:pPr>
              <a:spcAft>
                <a:spcPts val="800"/>
              </a:spcAft>
              <a:defRPr sz="1300" b="1">
                <a:solidFill>
                  <a:srgbClr val="0F172A"/>
                </a:solidFill>
              </a:defRPr>
            </a:pPr>
            <a:r>
              <a:t>Key Benefits Over Prior Art</a:t>
            </a:r>
          </a:p>
          <a:p>
            <a:pPr>
              <a:spcAft>
                <a:spcPts val="700"/>
              </a:spcAft>
            </a:pPr>
            <a:r>
              <a:rPr b="1">
                <a:solidFill>
                  <a:srgbClr val="2563EB"/>
                </a:solidFill>
              </a:rPr>
              <a:t>• </a:t>
            </a:r>
            <a:r>
              <a:rPr b="1" sz="1100">
                <a:solidFill>
                  <a:srgbClr val="0F172A"/>
                </a:solidFill>
              </a:rPr>
              <a:t>No Client-Side Changes: </a:t>
            </a:r>
            <a:r>
              <a:rPr sz="1100">
                <a:solidFill>
                  <a:srgbClr val="1E293B"/>
                </a:solidFill>
              </a:rPr>
              <a:t>100% compliant with standard RFC 9000 &amp; RFC 9002 QUIC. Works transparently with all existing web browsers and mobile clients.</a:t>
            </a:r>
          </a:p>
          <a:p>
            <a:pPr>
              <a:spcAft>
                <a:spcPts val="700"/>
              </a:spcAft>
            </a:pPr>
            <a:r>
              <a:rPr b="1">
                <a:solidFill>
                  <a:srgbClr val="2563EB"/>
                </a:solidFill>
              </a:rPr>
              <a:t>• </a:t>
            </a:r>
            <a:r>
              <a:rPr b="1" sz="1100">
                <a:solidFill>
                  <a:srgbClr val="0F172A"/>
                </a:solidFill>
              </a:rPr>
              <a:t>Zero Mode Flapping: </a:t>
            </a:r>
            <a:r>
              <a:rPr sz="1100">
                <a:solidFill>
                  <a:srgbClr val="1E293B"/>
                </a:solidFill>
              </a:rPr>
              <a:t>Employs closed-loop hysteresis deadbanding to prevent rapid oscillations under turbulent traffic.</a:t>
            </a:r>
          </a:p>
          <a:p>
            <a:pPr>
              <a:spcAft>
                <a:spcPts val="700"/>
              </a:spcAft>
            </a:pPr>
            <a:r>
              <a:rPr b="1">
                <a:solidFill>
                  <a:srgbClr val="2563EB"/>
                </a:solidFill>
              </a:rPr>
              <a:t>• </a:t>
            </a:r>
            <a:r>
              <a:rPr b="1" sz="1100">
                <a:solidFill>
                  <a:srgbClr val="0F172A"/>
                </a:solidFill>
              </a:rPr>
              <a:t>Best-of-Both-Worlds: </a:t>
            </a:r>
            <a:r>
              <a:rPr sz="1100">
                <a:solidFill>
                  <a:srgbClr val="1E293B"/>
                </a:solidFill>
              </a:rPr>
              <a:t>Maintains optimal low latency during normal operation while guaranteeing server stability during flash crowds.</a:t>
            </a:r>
          </a:p>
          <a:p>
            <a:pPr>
              <a:spcAft>
                <a:spcPts val="700"/>
              </a:spcAft>
            </a:pPr>
            <a:r>
              <a:rPr b="1">
                <a:solidFill>
                  <a:srgbClr val="2563EB"/>
                </a:solidFill>
              </a:rPr>
              <a:t>• </a:t>
            </a:r>
            <a:r>
              <a:rPr b="1" sz="1100">
                <a:solidFill>
                  <a:srgbClr val="0F172A"/>
                </a:solidFill>
              </a:rPr>
              <a:t>Production Ready: </a:t>
            </a:r>
            <a:r>
              <a:rPr sz="1100">
                <a:solidFill>
                  <a:srgbClr val="1E293B"/>
                </a:solidFill>
              </a:rPr>
              <a:t>Integrated directly into the upstream open-source quic-go codebase.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2560320" cy="292608"/>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PROPOSED EXTENSION</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0F172A"/>
                </a:solidFill>
              </a:defRPr>
            </a:pPr>
            <a:r>
              <a:t>The Control Engine: Schmitt-Trigger Hysteresis Controller</a:t>
            </a:r>
          </a:p>
          <a:p>
            <a:pPr>
              <a:defRPr sz="1200" i="1">
                <a:solidFill>
                  <a:srgbClr val="64748B"/>
                </a:solidFill>
              </a:defRPr>
            </a:pPr>
            <a:r>
              <a:t>Dual-threshold deadband eliminates mode-flapping and ensures rock-solid operational stability.</a:t>
            </a:r>
          </a:p>
        </p:txBody>
      </p:sp>
      <p:sp>
        <p:nvSpPr>
          <p:cNvPr id="4" name="TextBox 3"/>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COL724 / COL7524: Advanced Computer Networks (IIT Delhi)  |  Muhammed Nishad  |  Slide 7 of 21</a:t>
            </a:r>
          </a:p>
        </p:txBody>
      </p:sp>
      <p:pic>
        <p:nvPicPr>
          <p:cNvPr id="5" name="Picture 4" descr="diag_hysteresis_state_machine.png"/>
          <p:cNvPicPr>
            <a:picLocks noChangeAspect="1"/>
          </p:cNvPicPr>
          <p:nvPr/>
        </p:nvPicPr>
        <p:blipFill>
          <a:blip r:embed="rId2"/>
          <a:stretch>
            <a:fillRect/>
          </a:stretch>
        </p:blipFill>
        <p:spPr>
          <a:xfrm>
            <a:off x="731520" y="1554480"/>
            <a:ext cx="6217920" cy="4572000"/>
          </a:xfrm>
          <a:prstGeom prst="rect">
            <a:avLst/>
          </a:prstGeom>
        </p:spPr>
      </p:pic>
      <p:sp>
        <p:nvSpPr>
          <p:cNvPr id="6" name="TextBox 5"/>
          <p:cNvSpPr txBox="1"/>
          <p:nvPr/>
        </p:nvSpPr>
        <p:spPr>
          <a:xfrm>
            <a:off x="731520" y="6172200"/>
            <a:ext cx="6217920" cy="274320"/>
          </a:xfrm>
          <a:prstGeom prst="rect">
            <a:avLst/>
          </a:prstGeom>
          <a:noFill/>
        </p:spPr>
        <p:txBody>
          <a:bodyPr wrap="none">
            <a:spAutoFit/>
          </a:bodyPr>
          <a:lstStyle/>
          <a:p>
            <a:pPr algn="ctr">
              <a:defRPr sz="950" i="1">
                <a:solidFill>
                  <a:srgbClr val="64748B"/>
                </a:solidFill>
              </a:defRPr>
            </a:pPr>
            <a:r>
              <a:t>Figure: State Machine showing IACK state, WFC state, and the [4, 8] Hysteresis Deadband</a:t>
            </a:r>
          </a:p>
        </p:txBody>
      </p:sp>
      <p:sp>
        <p:nvSpPr>
          <p:cNvPr id="7" name="Rounded Rectangle 6"/>
          <p:cNvSpPr/>
          <p:nvPr/>
        </p:nvSpPr>
        <p:spPr>
          <a:xfrm>
            <a:off x="7132320" y="1554480"/>
            <a:ext cx="42976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691640"/>
            <a:ext cx="3931920" cy="4297680"/>
          </a:xfrm>
          <a:prstGeom prst="rect">
            <a:avLst/>
          </a:prstGeom>
          <a:noFill/>
        </p:spPr>
        <p:txBody>
          <a:bodyPr wrap="square">
            <a:spAutoFit/>
          </a:bodyPr>
          <a:lstStyle/>
          <a:p>
            <a:pPr>
              <a:spcAft>
                <a:spcPts val="800"/>
              </a:spcAft>
              <a:defRPr sz="1300" b="1">
                <a:solidFill>
                  <a:srgbClr val="0F172A"/>
                </a:solidFill>
              </a:defRPr>
            </a:pPr>
            <a:r>
              <a:t>Controller Architecture</a:t>
            </a:r>
          </a:p>
          <a:p>
            <a:pPr>
              <a:spcAft>
                <a:spcPts val="700"/>
              </a:spcAft>
            </a:pPr>
            <a:r>
              <a:rPr b="1">
                <a:solidFill>
                  <a:srgbClr val="2563EB"/>
                </a:solidFill>
              </a:rPr>
              <a:t>• </a:t>
            </a:r>
            <a:r>
              <a:rPr b="1" sz="1100">
                <a:solidFill>
                  <a:srgbClr val="0F172A"/>
                </a:solidFill>
              </a:rPr>
              <a:t>State Machine Definition: </a:t>
            </a:r>
            <a:r>
              <a:rPr sz="1100">
                <a:solidFill>
                  <a:srgbClr val="1E293B"/>
                </a:solidFill>
              </a:rPr>
              <a:t>Decision(t) = 
• IACK if H_active &lt;= τ_low (4)
• WFC if H_active &gt;= τ_high (8)
• Maintain Previous State if 4 &lt; H_active &lt; 8</a:t>
            </a:r>
          </a:p>
          <a:p>
            <a:pPr>
              <a:spcAft>
                <a:spcPts val="700"/>
              </a:spcAft>
            </a:pPr>
            <a:r>
              <a:rPr b="1">
                <a:solidFill>
                  <a:srgbClr val="2563EB"/>
                </a:solidFill>
              </a:rPr>
              <a:t>• </a:t>
            </a:r>
            <a:r>
              <a:rPr b="1" sz="1100">
                <a:solidFill>
                  <a:srgbClr val="0F172A"/>
                </a:solidFill>
              </a:rPr>
              <a:t>Why Hysteresis?: </a:t>
            </a:r>
            <a:r>
              <a:rPr sz="1100">
                <a:solidFill>
                  <a:srgbClr val="1E293B"/>
                </a:solidFill>
              </a:rPr>
              <a:t>A single threshold (e.g., at 6) would cause rapid mode-flapping if traffic hovered around 6, thrashing server state and degrading client timers.</a:t>
            </a:r>
          </a:p>
          <a:p>
            <a:pPr>
              <a:spcAft>
                <a:spcPts val="700"/>
              </a:spcAft>
            </a:pPr>
            <a:r>
              <a:rPr b="1">
                <a:solidFill>
                  <a:srgbClr val="2563EB"/>
                </a:solidFill>
              </a:rPr>
              <a:t>• </a:t>
            </a:r>
            <a:r>
              <a:rPr b="1" sz="1100">
                <a:solidFill>
                  <a:srgbClr val="0F172A"/>
                </a:solidFill>
              </a:rPr>
              <a:t>Dual Sensory Signals: </a:t>
            </a:r>
            <a:r>
              <a:rPr sz="1100">
                <a:solidFill>
                  <a:srgbClr val="1E293B"/>
                </a:solidFill>
              </a:rPr>
              <a:t>1. Active Handshakes H_active: Tracks uncompleted handshakes via atomic counters.
2. Server CPU EMA: Senses compute bottleneck from asymmetric crypto.</a:t>
            </a:r>
          </a:p>
          <a:p>
            <a:pPr>
              <a:spcAft>
                <a:spcPts val="700"/>
              </a:spcAft>
            </a:pPr>
            <a:r>
              <a:rPr b="1">
                <a:solidFill>
                  <a:srgbClr val="2563EB"/>
                </a:solidFill>
              </a:rPr>
              <a:t>• </a:t>
            </a:r>
            <a:r>
              <a:rPr b="1" sz="1100">
                <a:solidFill>
                  <a:srgbClr val="0F172A"/>
                </a:solidFill>
              </a:rPr>
              <a:t>Deadband Stability: </a:t>
            </a:r>
            <a:r>
              <a:rPr sz="1100">
                <a:solidFill>
                  <a:srgbClr val="1E293B"/>
                </a:solidFill>
              </a:rPr>
              <a:t>Guarantees rapid response during sudden traffic spikes while absorbing transient micro-bursts.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2560320" cy="292608"/>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WORK COMPLETED SO FAR</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0F172A"/>
                </a:solidFill>
              </a:defRPr>
            </a:pPr>
            <a:r>
              <a:t>Implementation Stack &amp; Experimental Testbed Architecture</a:t>
            </a:r>
          </a:p>
          <a:p>
            <a:pPr>
              <a:defRPr sz="1200" i="1">
                <a:solidFill>
                  <a:srgbClr val="64748B"/>
                </a:solidFill>
              </a:defRPr>
            </a:pPr>
            <a:r>
              <a:t>Complete end-to-end QUIC measurement testbed built on Go 1.20.7 and modified quic-go.</a:t>
            </a:r>
          </a:p>
        </p:txBody>
      </p:sp>
      <p:sp>
        <p:nvSpPr>
          <p:cNvPr id="4" name="TextBox 3"/>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COL724 / COL7524: Advanced Computer Networks (IIT Delhi)  |  Muhammed Nishad  |  Slide 8 of 21</a:t>
            </a:r>
          </a:p>
        </p:txBody>
      </p:sp>
      <p:pic>
        <p:nvPicPr>
          <p:cNvPr id="5" name="Picture 4" descr="diag_system_architecture.png"/>
          <p:cNvPicPr>
            <a:picLocks noChangeAspect="1"/>
          </p:cNvPicPr>
          <p:nvPr/>
        </p:nvPicPr>
        <p:blipFill>
          <a:blip r:embed="rId2"/>
          <a:stretch>
            <a:fillRect/>
          </a:stretch>
        </p:blipFill>
        <p:spPr>
          <a:xfrm>
            <a:off x="731520" y="1554480"/>
            <a:ext cx="6217920" cy="4572000"/>
          </a:xfrm>
          <a:prstGeom prst="rect">
            <a:avLst/>
          </a:prstGeom>
        </p:spPr>
      </p:pic>
      <p:sp>
        <p:nvSpPr>
          <p:cNvPr id="6" name="TextBox 5"/>
          <p:cNvSpPr txBox="1"/>
          <p:nvPr/>
        </p:nvSpPr>
        <p:spPr>
          <a:xfrm>
            <a:off x="731520" y="6172200"/>
            <a:ext cx="6217920" cy="274320"/>
          </a:xfrm>
          <a:prstGeom prst="rect">
            <a:avLst/>
          </a:prstGeom>
          <a:noFill/>
        </p:spPr>
        <p:txBody>
          <a:bodyPr wrap="none">
            <a:spAutoFit/>
          </a:bodyPr>
          <a:lstStyle/>
          <a:p>
            <a:pPr algn="ctr">
              <a:defRPr sz="950" i="1">
                <a:solidFill>
                  <a:srgbClr val="64748B"/>
                </a:solidFill>
              </a:defRPr>
            </a:pPr>
            <a:r>
              <a:t>Figure: Architecture of Measurement Client, UDP Network Proxy, QUIC Server, and Streamlit Dashboard</a:t>
            </a:r>
          </a:p>
        </p:txBody>
      </p:sp>
      <p:sp>
        <p:nvSpPr>
          <p:cNvPr id="7" name="Rounded Rectangle 6"/>
          <p:cNvSpPr/>
          <p:nvPr/>
        </p:nvSpPr>
        <p:spPr>
          <a:xfrm>
            <a:off x="7132320" y="1554480"/>
            <a:ext cx="42976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691640"/>
            <a:ext cx="3931920" cy="4297680"/>
          </a:xfrm>
          <a:prstGeom prst="rect">
            <a:avLst/>
          </a:prstGeom>
          <a:noFill/>
        </p:spPr>
        <p:txBody>
          <a:bodyPr wrap="square">
            <a:spAutoFit/>
          </a:bodyPr>
          <a:lstStyle/>
          <a:p>
            <a:pPr>
              <a:spcAft>
                <a:spcPts val="800"/>
              </a:spcAft>
              <a:defRPr sz="1300" b="1">
                <a:solidFill>
                  <a:srgbClr val="0F172A"/>
                </a:solidFill>
              </a:defRPr>
            </a:pPr>
            <a:r>
              <a:t>Implementation Components</a:t>
            </a:r>
          </a:p>
          <a:p>
            <a:pPr>
              <a:spcAft>
                <a:spcPts val="700"/>
              </a:spcAft>
            </a:pPr>
            <a:r>
              <a:rPr b="1">
                <a:solidFill>
                  <a:srgbClr val="2563EB"/>
                </a:solidFill>
              </a:rPr>
              <a:t>• </a:t>
            </a:r>
            <a:r>
              <a:rPr b="1" sz="1100">
                <a:solidFill>
                  <a:srgbClr val="0F172A"/>
                </a:solidFill>
              </a:rPr>
              <a:t>Multi-Mode QUIC Server: </a:t>
            </a:r>
            <a:r>
              <a:rPr sz="1100">
                <a:solidFill>
                  <a:srgbClr val="1E293B"/>
                </a:solidFill>
              </a:rPr>
              <a:t>Built on quic-go fork + qtls-go1-20 (cmd/server). Supports --mode=wfc, --mode=iack, and --mode=loadaware. Exposes live metrics at :8080/stats.</a:t>
            </a:r>
          </a:p>
          <a:p>
            <a:pPr>
              <a:spcAft>
                <a:spcPts val="700"/>
              </a:spcAft>
            </a:pPr>
            <a:r>
              <a:rPr b="1">
                <a:solidFill>
                  <a:srgbClr val="2563EB"/>
                </a:solidFill>
              </a:rPr>
              <a:t>• </a:t>
            </a:r>
            <a:r>
              <a:rPr b="1" sz="1100">
                <a:solidFill>
                  <a:srgbClr val="0F172A"/>
                </a:solidFill>
              </a:rPr>
              <a:t>Engine Hooks: </a:t>
            </a:r>
            <a:r>
              <a:rPr sz="1100">
                <a:solidFill>
                  <a:srgbClr val="1E293B"/>
                </a:solidFill>
              </a:rPr>
              <a:t>Intercepted packet lifecycle in connection.go:handleUnpackedLongHeaderPacket() to dynamically query LoadMonitor.</a:t>
            </a:r>
          </a:p>
          <a:p>
            <a:pPr>
              <a:spcAft>
                <a:spcPts val="700"/>
              </a:spcAft>
            </a:pPr>
            <a:r>
              <a:rPr b="1">
                <a:solidFill>
                  <a:srgbClr val="2563EB"/>
                </a:solidFill>
              </a:rPr>
              <a:t>• </a:t>
            </a:r>
            <a:r>
              <a:rPr b="1" sz="1100">
                <a:solidFill>
                  <a:srgbClr val="0F172A"/>
                </a:solidFill>
              </a:rPr>
              <a:t>UDP Proxy Emulator: </a:t>
            </a:r>
            <a:r>
              <a:rPr sz="1100">
                <a:solidFill>
                  <a:srgbClr val="1E293B"/>
                </a:solidFill>
              </a:rPr>
              <a:t>Asynchronous user-space proxy (cmd/proxy) with nanosecond delay injection, 4MB UDP buffers, jitter, and loss emulation.</a:t>
            </a:r>
          </a:p>
          <a:p>
            <a:pPr>
              <a:spcAft>
                <a:spcPts val="700"/>
              </a:spcAft>
            </a:pPr>
            <a:r>
              <a:rPr b="1">
                <a:solidFill>
                  <a:srgbClr val="2563EB"/>
                </a:solidFill>
              </a:rPr>
              <a:t>• </a:t>
            </a:r>
            <a:r>
              <a:rPr b="1" sz="1100">
                <a:solidFill>
                  <a:srgbClr val="0F172A"/>
                </a:solidFill>
              </a:rPr>
              <a:t>Measurement Client: </a:t>
            </a:r>
            <a:r>
              <a:rPr sz="1100">
                <a:solidFill>
                  <a:srgbClr val="1E293B"/>
                </a:solidFill>
              </a:rPr>
              <a:t>Multi-goroutine client (cmd/client) recording handshake duration, TTFB, 4-phase timestamps (t1-t4), and RFC 9002 PTO probe counts.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2560320" cy="292608"/>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EVALUATION METHODOLOGY</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0F172A"/>
                </a:solidFill>
              </a:defRPr>
            </a:pPr>
            <a:r>
              <a:t>Experimental Testbed Specifications &amp; Evaluation Matrix</a:t>
            </a:r>
          </a:p>
          <a:p>
            <a:pPr>
              <a:defRPr sz="1200" i="1">
                <a:solidFill>
                  <a:srgbClr val="64748B"/>
                </a:solidFill>
              </a:defRPr>
            </a:pPr>
            <a:r>
              <a:t>Standardized benchmark testbed designed for rigorous scientific reproducibility.</a:t>
            </a:r>
          </a:p>
        </p:txBody>
      </p:sp>
      <p:sp>
        <p:nvSpPr>
          <p:cNvPr id="4" name="TextBox 3"/>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COL724 / COL7524: Advanced Computer Networks (IIT Delhi)  |  Muhammed Nishad  |  Slide 9 of 21</a:t>
            </a:r>
          </a:p>
        </p:txBody>
      </p:sp>
      <p:sp>
        <p:nvSpPr>
          <p:cNvPr id="5" name="Rounded Rectangle 4"/>
          <p:cNvSpPr/>
          <p:nvPr/>
        </p:nvSpPr>
        <p:spPr>
          <a:xfrm>
            <a:off x="731520" y="1554480"/>
            <a:ext cx="512064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754880" cy="4297680"/>
          </a:xfrm>
          <a:prstGeom prst="rect">
            <a:avLst/>
          </a:prstGeom>
          <a:noFill/>
        </p:spPr>
        <p:txBody>
          <a:bodyPr wrap="square">
            <a:spAutoFit/>
          </a:bodyPr>
          <a:lstStyle/>
          <a:p>
            <a:pPr>
              <a:spcAft>
                <a:spcPts val="800"/>
              </a:spcAft>
              <a:defRPr sz="1300" b="1">
                <a:solidFill>
                  <a:srgbClr val="0F172A"/>
                </a:solidFill>
              </a:defRPr>
            </a:pPr>
            <a:r>
              <a:t>Standardized Testbed Specs</a:t>
            </a:r>
          </a:p>
          <a:p>
            <a:pPr>
              <a:spcAft>
                <a:spcPts val="700"/>
              </a:spcAft>
            </a:pPr>
            <a:r>
              <a:rPr b="1">
                <a:solidFill>
                  <a:srgbClr val="2563EB"/>
                </a:solidFill>
              </a:rPr>
              <a:t>• </a:t>
            </a:r>
            <a:r>
              <a:rPr b="1" sz="1100">
                <a:solidFill>
                  <a:srgbClr val="0F172A"/>
                </a:solidFill>
              </a:rPr>
              <a:t>Host Hardware: </a:t>
            </a:r>
            <a:r>
              <a:rPr sz="1100">
                <a:solidFill>
                  <a:srgbClr val="1E293B"/>
                </a:solidFill>
              </a:rPr>
              <a:t>Apple Silicon M-series (8 execution cores, 16GB unified memory).</a:t>
            </a:r>
          </a:p>
          <a:p>
            <a:pPr>
              <a:spcAft>
                <a:spcPts val="700"/>
              </a:spcAft>
            </a:pPr>
            <a:r>
              <a:rPr b="1">
                <a:solidFill>
                  <a:srgbClr val="2563EB"/>
                </a:solidFill>
              </a:rPr>
              <a:t>• </a:t>
            </a:r>
            <a:r>
              <a:rPr b="1" sz="1100">
                <a:solidFill>
                  <a:srgbClr val="0F172A"/>
                </a:solidFill>
              </a:rPr>
              <a:t>Toolchain &amp; Runtime: </a:t>
            </a:r>
            <a:r>
              <a:rPr sz="1100">
                <a:solidFill>
                  <a:srgbClr val="1E293B"/>
                </a:solidFill>
              </a:rPr>
              <a:t>Dedicated Go 1.20.7 runtime (toolchain/go/bin/go) pinned to qtls TLS 1.3 memory layout; Python 3 for automation.</a:t>
            </a:r>
          </a:p>
          <a:p>
            <a:pPr>
              <a:spcAft>
                <a:spcPts val="700"/>
              </a:spcAft>
            </a:pPr>
            <a:r>
              <a:rPr b="1">
                <a:solidFill>
                  <a:srgbClr val="2563EB"/>
                </a:solidFill>
              </a:rPr>
              <a:t>• </a:t>
            </a:r>
            <a:r>
              <a:rPr b="1" sz="1100">
                <a:solidFill>
                  <a:srgbClr val="0F172A"/>
                </a:solidFill>
              </a:rPr>
              <a:t>Kernel Buffer Tuning: </a:t>
            </a:r>
            <a:r>
              <a:rPr sz="1100">
                <a:solidFill>
                  <a:srgbClr val="1E293B"/>
                </a:solidFill>
              </a:rPr>
              <a:t>UDP socket buffers expanded to 4MB (SetReadBuffer(4*1024*1024)) to eliminate loopback kernel buffer drops.</a:t>
            </a:r>
          </a:p>
          <a:p>
            <a:pPr>
              <a:spcAft>
                <a:spcPts val="700"/>
              </a:spcAft>
            </a:pPr>
            <a:r>
              <a:rPr b="1">
                <a:solidFill>
                  <a:srgbClr val="2563EB"/>
                </a:solidFill>
              </a:rPr>
              <a:t>• </a:t>
            </a:r>
            <a:r>
              <a:rPr b="1" sz="1100">
                <a:solidFill>
                  <a:srgbClr val="0F172A"/>
                </a:solidFill>
              </a:rPr>
              <a:t>Traffic Workload: </a:t>
            </a:r>
            <a:r>
              <a:rPr sz="1100">
                <a:solidFill>
                  <a:srgbClr val="1E293B"/>
                </a:solidFill>
              </a:rPr>
              <a:t>10KB HTTP/3 application stream data payload per connection.</a:t>
            </a:r>
          </a:p>
          <a:p>
            <a:pPr>
              <a:spcAft>
                <a:spcPts val="700"/>
              </a:spcAft>
            </a:pPr>
            <a:r>
              <a:rPr b="1">
                <a:solidFill>
                  <a:srgbClr val="2563EB"/>
                </a:solidFill>
              </a:rPr>
              <a:t>• </a:t>
            </a:r>
            <a:r>
              <a:rPr b="1" sz="1100">
                <a:solidFill>
                  <a:srgbClr val="0F172A"/>
                </a:solidFill>
              </a:rPr>
              <a:t>Loss &amp; Jitter Emulation: </a:t>
            </a:r>
            <a:r>
              <a:rPr sz="1100">
                <a:solidFill>
                  <a:srgbClr val="1E293B"/>
                </a:solidFill>
              </a:rPr>
              <a:t>Nanosecond sleep delay injection with pseudo-random Bernoulli packet dropping.</a:t>
            </a:r>
          </a:p>
        </p:txBody>
      </p:sp>
      <p:sp>
        <p:nvSpPr>
          <p:cNvPr id="7" name="Rounded Rectangle 6"/>
          <p:cNvSpPr/>
          <p:nvPr/>
        </p:nvSpPr>
        <p:spPr>
          <a:xfrm>
            <a:off x="6217920" y="1554480"/>
            <a:ext cx="52120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4297680"/>
          </a:xfrm>
          <a:prstGeom prst="rect">
            <a:avLst/>
          </a:prstGeom>
          <a:noFill/>
        </p:spPr>
        <p:txBody>
          <a:bodyPr wrap="square">
            <a:spAutoFit/>
          </a:bodyPr>
          <a:lstStyle/>
          <a:p>
            <a:pPr>
              <a:spcAft>
                <a:spcPts val="800"/>
              </a:spcAft>
              <a:defRPr sz="1300" b="1">
                <a:solidFill>
                  <a:srgbClr val="0F172A"/>
                </a:solidFill>
              </a:defRPr>
            </a:pPr>
            <a:r>
              <a:t>Comprehensive Parameter Matrix</a:t>
            </a:r>
          </a:p>
          <a:p>
            <a:pPr>
              <a:spcAft>
                <a:spcPts val="700"/>
              </a:spcAft>
            </a:pPr>
            <a:r>
              <a:rPr b="1">
                <a:solidFill>
                  <a:srgbClr val="2563EB"/>
                </a:solidFill>
              </a:rPr>
              <a:t>• </a:t>
            </a:r>
            <a:r>
              <a:rPr b="1" sz="1100">
                <a:solidFill>
                  <a:srgbClr val="0F172A"/>
                </a:solidFill>
              </a:rPr>
              <a:t>Server Policies (3): </a:t>
            </a:r>
            <a:r>
              <a:rPr sz="1100">
                <a:solidFill>
                  <a:srgbClr val="1E293B"/>
                </a:solidFill>
              </a:rPr>
              <a:t>Static WFC vs. Static IACK vs. Load-Aware IACK (Ours)</a:t>
            </a:r>
          </a:p>
          <a:p>
            <a:pPr>
              <a:spcAft>
                <a:spcPts val="700"/>
              </a:spcAft>
            </a:pPr>
            <a:r>
              <a:rPr b="1">
                <a:solidFill>
                  <a:srgbClr val="2563EB"/>
                </a:solidFill>
              </a:rPr>
              <a:t>• </a:t>
            </a:r>
            <a:r>
              <a:rPr b="1" sz="1100">
                <a:solidFill>
                  <a:srgbClr val="0F172A"/>
                </a:solidFill>
              </a:rPr>
              <a:t>Network RTTs (4): </a:t>
            </a:r>
            <a:r>
              <a:rPr sz="1100">
                <a:solidFill>
                  <a:srgbClr val="1E293B"/>
                </a:solidFill>
              </a:rPr>
              <a:t>10 ms, 30 ms, 60 ms, 100 ms (Local edge to inter-continental CDN paths)</a:t>
            </a:r>
          </a:p>
          <a:p>
            <a:pPr>
              <a:spcAft>
                <a:spcPts val="700"/>
              </a:spcAft>
            </a:pPr>
            <a:r>
              <a:rPr b="1">
                <a:solidFill>
                  <a:srgbClr val="2563EB"/>
                </a:solidFill>
              </a:rPr>
              <a:t>• </a:t>
            </a:r>
            <a:r>
              <a:rPr b="1" sz="1100">
                <a:solidFill>
                  <a:srgbClr val="0F172A"/>
                </a:solidFill>
              </a:rPr>
              <a:t>Backend Cert Delays (5): </a:t>
            </a:r>
            <a:r>
              <a:rPr sz="1100">
                <a:solidFill>
                  <a:srgbClr val="1E293B"/>
                </a:solidFill>
              </a:rPr>
              <a:t>5 ms, 20 ms, 50 ms, 100 ms, 180 ms (Emulating local cache to Keyless SSL)</a:t>
            </a:r>
          </a:p>
          <a:p>
            <a:pPr>
              <a:spcAft>
                <a:spcPts val="700"/>
              </a:spcAft>
            </a:pPr>
            <a:r>
              <a:rPr b="1">
                <a:solidFill>
                  <a:srgbClr val="2563EB"/>
                </a:solidFill>
              </a:rPr>
              <a:t>• </a:t>
            </a:r>
            <a:r>
              <a:rPr b="1" sz="1100">
                <a:solidFill>
                  <a:srgbClr val="0F172A"/>
                </a:solidFill>
              </a:rPr>
              <a:t>Concurrency Regimes (6): </a:t>
            </a:r>
            <a:r>
              <a:rPr sz="1100">
                <a:solidFill>
                  <a:srgbClr val="1E293B"/>
                </a:solidFill>
              </a:rPr>
              <a:t>1, 5, 10, 20, 35, 50, 75 concurrent handshakes (Baseline sweep)</a:t>
            </a:r>
          </a:p>
          <a:p>
            <a:pPr>
              <a:spcAft>
                <a:spcPts val="700"/>
              </a:spcAft>
            </a:pPr>
            <a:r>
              <a:rPr b="1">
                <a:solidFill>
                  <a:srgbClr val="2563EB"/>
                </a:solidFill>
              </a:rPr>
              <a:t>• </a:t>
            </a:r>
            <a:r>
              <a:rPr b="1" sz="1100">
                <a:solidFill>
                  <a:srgbClr val="0F172A"/>
                </a:solidFill>
              </a:rPr>
              <a:t>Network Impairments: </a:t>
            </a:r>
            <a:r>
              <a:rPr sz="1100">
                <a:solidFill>
                  <a:srgbClr val="1E293B"/>
                </a:solidFill>
              </a:rPr>
              <a:t>0%, 2%, 5%, 8% packet loss; 0 to ±45 ms delay jitter</a:t>
            </a:r>
          </a:p>
          <a:p>
            <a:pPr>
              <a:spcAft>
                <a:spcPts val="700"/>
              </a:spcAft>
            </a:pPr>
            <a:r>
              <a:rPr b="1">
                <a:solidFill>
                  <a:srgbClr val="2563EB"/>
                </a:solidFill>
              </a:rPr>
              <a:t>• </a:t>
            </a:r>
            <a:r>
              <a:rPr b="1" sz="1100">
                <a:solidFill>
                  <a:srgbClr val="0F172A"/>
                </a:solidFill>
              </a:rPr>
              <a:t>Core Metrics: </a:t>
            </a:r>
            <a:r>
              <a:rPr sz="1100">
                <a:solidFill>
                  <a:srgbClr val="1E293B"/>
                </a:solidFill>
              </a:rPr>
              <a:t>Handshake Completion Time, TTFB, Spurious PTO Count, Phase Breakdown (t1-t4).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2560320" cy="292608"/>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RESULTS &amp; FINDINGS</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0F172A"/>
                </a:solidFill>
              </a:defRPr>
            </a:pPr>
            <a:r>
              <a:t>Figure 1: Handshake Latency vs. Network RTT (Light Load)</a:t>
            </a:r>
          </a:p>
          <a:p>
            <a:pPr>
              <a:defRPr sz="1200" i="1">
                <a:solidFill>
                  <a:srgbClr val="64748B"/>
                </a:solidFill>
              </a:defRPr>
            </a:pPr>
            <a:r>
              <a:t>Under peacetime, Load-Aware reliably chooses Instant ACK, matching the 15–20 ms speedup across all RTTs.</a:t>
            </a:r>
          </a:p>
        </p:txBody>
      </p:sp>
      <p:sp>
        <p:nvSpPr>
          <p:cNvPr id="4" name="TextBox 3"/>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COL724 / COL7524: Advanced Computer Networks (IIT Delhi)  |  Ayush Arya  |  Slide 10 of 21</a:t>
            </a:r>
          </a:p>
        </p:txBody>
      </p:sp>
      <p:pic>
        <p:nvPicPr>
          <p:cNvPr id="5" name="Picture 4" descr="fig1_handshake_latency_vs_rtt.png"/>
          <p:cNvPicPr>
            <a:picLocks noChangeAspect="1"/>
          </p:cNvPicPr>
          <p:nvPr/>
        </p:nvPicPr>
        <p:blipFill>
          <a:blip r:embed="rId2"/>
          <a:stretch>
            <a:fillRect/>
          </a:stretch>
        </p:blipFill>
        <p:spPr>
          <a:xfrm>
            <a:off x="731520" y="1554480"/>
            <a:ext cx="6217920" cy="4572000"/>
          </a:xfrm>
          <a:prstGeom prst="rect">
            <a:avLst/>
          </a:prstGeom>
        </p:spPr>
      </p:pic>
      <p:sp>
        <p:nvSpPr>
          <p:cNvPr id="6" name="TextBox 5"/>
          <p:cNvSpPr txBox="1"/>
          <p:nvPr/>
        </p:nvSpPr>
        <p:spPr>
          <a:xfrm>
            <a:off x="731520" y="6172200"/>
            <a:ext cx="6217920" cy="274320"/>
          </a:xfrm>
          <a:prstGeom prst="rect">
            <a:avLst/>
          </a:prstGeom>
          <a:noFill/>
        </p:spPr>
        <p:txBody>
          <a:bodyPr wrap="none">
            <a:spAutoFit/>
          </a:bodyPr>
          <a:lstStyle/>
          <a:p>
            <a:pPr algn="ctr">
              <a:defRPr sz="950" i="1">
                <a:solidFill>
                  <a:srgbClr val="64748B"/>
                </a:solidFill>
              </a:defRPr>
            </a:pPr>
            <a:r>
              <a:t>Figure 1: Handshake completion time (ms) vs. Network RTT (10ms to 100ms, Δt = 20ms)</a:t>
            </a:r>
          </a:p>
        </p:txBody>
      </p:sp>
      <p:sp>
        <p:nvSpPr>
          <p:cNvPr id="7" name="Rounded Rectangle 6"/>
          <p:cNvSpPr/>
          <p:nvPr/>
        </p:nvSpPr>
        <p:spPr>
          <a:xfrm>
            <a:off x="7132320" y="1554480"/>
            <a:ext cx="42976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691640"/>
            <a:ext cx="3931920" cy="4297680"/>
          </a:xfrm>
          <a:prstGeom prst="rect">
            <a:avLst/>
          </a:prstGeom>
          <a:noFill/>
        </p:spPr>
        <p:txBody>
          <a:bodyPr wrap="square">
            <a:spAutoFit/>
          </a:bodyPr>
          <a:lstStyle/>
          <a:p>
            <a:pPr>
              <a:spcAft>
                <a:spcPts val="800"/>
              </a:spcAft>
              <a:defRPr sz="1300" b="1">
                <a:solidFill>
                  <a:srgbClr val="0F172A"/>
                </a:solidFill>
              </a:defRPr>
            </a:pPr>
            <a:r>
              <a:t>Key Empirical Observations</a:t>
            </a:r>
          </a:p>
          <a:p>
            <a:pPr>
              <a:spcAft>
                <a:spcPts val="700"/>
              </a:spcAft>
            </a:pPr>
            <a:r>
              <a:rPr b="1">
                <a:solidFill>
                  <a:srgbClr val="2563EB"/>
                </a:solidFill>
              </a:rPr>
              <a:t>• </a:t>
            </a:r>
            <a:r>
              <a:rPr b="1" sz="1100">
                <a:solidFill>
                  <a:srgbClr val="0F172A"/>
                </a:solidFill>
              </a:rPr>
              <a:t>Peacetime Optimality: </a:t>
            </a:r>
            <a:r>
              <a:rPr sz="1100">
                <a:solidFill>
                  <a:srgbClr val="1E293B"/>
                </a:solidFill>
              </a:rPr>
              <a:t>Under low load (1-3 clients), Load-Aware detects zero contention and deploys 100% Instant ACK.</a:t>
            </a:r>
          </a:p>
          <a:p>
            <a:pPr>
              <a:spcAft>
                <a:spcPts val="700"/>
              </a:spcAft>
            </a:pPr>
            <a:r>
              <a:rPr b="1">
                <a:solidFill>
                  <a:srgbClr val="2563EB"/>
                </a:solidFill>
              </a:rPr>
              <a:t>• </a:t>
            </a:r>
            <a:r>
              <a:rPr b="1" sz="1100">
                <a:solidFill>
                  <a:srgbClr val="0F172A"/>
                </a:solidFill>
              </a:rPr>
              <a:t>Consistent 15-20ms Speedup: </a:t>
            </a:r>
            <a:r>
              <a:rPr sz="1100">
                <a:solidFill>
                  <a:srgbClr val="1E293B"/>
                </a:solidFill>
              </a:rPr>
              <a:t>At RTT=10ms: WFC is 36.6 ms, IACK is 34.6 ms, Load-Aware is 34.2 ms. At RTT=60ms: WFC is 101.2 ms, Load-Aware is 85.0 ms (16.2 ms faster!).</a:t>
            </a:r>
          </a:p>
          <a:p>
            <a:pPr>
              <a:spcAft>
                <a:spcPts val="700"/>
              </a:spcAft>
            </a:pPr>
            <a:r>
              <a:rPr b="1">
                <a:solidFill>
                  <a:srgbClr val="2563EB"/>
                </a:solidFill>
              </a:rPr>
              <a:t>• </a:t>
            </a:r>
            <a:r>
              <a:rPr b="1" sz="1100">
                <a:solidFill>
                  <a:srgbClr val="0F172A"/>
                </a:solidFill>
              </a:rPr>
              <a:t>Parity with Static IACK: </a:t>
            </a:r>
            <a:r>
              <a:rPr sz="1100">
                <a:solidFill>
                  <a:srgbClr val="1E293B"/>
                </a:solidFill>
              </a:rPr>
              <a:t>Load-Aware tracks Static IACK perfectly across all path RTTs (&lt;0.5ms variance), proving zero runtime overhead.</a:t>
            </a:r>
          </a:p>
          <a:p>
            <a:pPr>
              <a:spcAft>
                <a:spcPts val="700"/>
              </a:spcAft>
            </a:pPr>
            <a:r>
              <a:rPr b="1">
                <a:solidFill>
                  <a:srgbClr val="2563EB"/>
                </a:solidFill>
              </a:rPr>
              <a:t>• </a:t>
            </a:r>
            <a:r>
              <a:rPr b="1" sz="1100">
                <a:solidFill>
                  <a:srgbClr val="0F172A"/>
                </a:solidFill>
              </a:rPr>
              <a:t>Conclusion: </a:t>
            </a:r>
            <a:r>
              <a:rPr sz="1100">
                <a:solidFill>
                  <a:srgbClr val="1E293B"/>
                </a:solidFill>
              </a:rPr>
              <a:t>Load-Aware delivers full Instant ACK performance benefits whenever the server has headroom.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2560320" cy="292608"/>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RESULTS &amp; FINDINGS</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0F172A"/>
                </a:solidFill>
              </a:defRPr>
            </a:pPr>
            <a:r>
              <a:t>Figure 2: Time to First Byte (TTFB) vs. Network RTT</a:t>
            </a:r>
          </a:p>
          <a:p>
            <a:pPr>
              <a:defRPr sz="1200" i="1">
                <a:solidFill>
                  <a:srgbClr val="64748B"/>
                </a:solidFill>
              </a:defRPr>
            </a:pPr>
            <a:r>
              <a:t>TTFB scales linearly with path RTT, confirming Instant ACK introduces zero application-layer delay.</a:t>
            </a:r>
          </a:p>
        </p:txBody>
      </p:sp>
      <p:sp>
        <p:nvSpPr>
          <p:cNvPr id="4" name="TextBox 3"/>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COL724 / COL7524: Advanced Computer Networks (IIT Delhi)  |  Ayush Arya  |  Slide 11 of 21</a:t>
            </a:r>
          </a:p>
        </p:txBody>
      </p:sp>
      <p:pic>
        <p:nvPicPr>
          <p:cNvPr id="5" name="Picture 4" descr="fig2_ttfb_vs_rtt.png"/>
          <p:cNvPicPr>
            <a:picLocks noChangeAspect="1"/>
          </p:cNvPicPr>
          <p:nvPr/>
        </p:nvPicPr>
        <p:blipFill>
          <a:blip r:embed="rId2"/>
          <a:stretch>
            <a:fillRect/>
          </a:stretch>
        </p:blipFill>
        <p:spPr>
          <a:xfrm>
            <a:off x="731520" y="1554480"/>
            <a:ext cx="6217920" cy="4572000"/>
          </a:xfrm>
          <a:prstGeom prst="rect">
            <a:avLst/>
          </a:prstGeom>
        </p:spPr>
      </p:pic>
      <p:sp>
        <p:nvSpPr>
          <p:cNvPr id="6" name="TextBox 5"/>
          <p:cNvSpPr txBox="1"/>
          <p:nvPr/>
        </p:nvSpPr>
        <p:spPr>
          <a:xfrm>
            <a:off x="731520" y="6172200"/>
            <a:ext cx="6217920" cy="274320"/>
          </a:xfrm>
          <a:prstGeom prst="rect">
            <a:avLst/>
          </a:prstGeom>
          <a:noFill/>
        </p:spPr>
        <p:txBody>
          <a:bodyPr wrap="none">
            <a:spAutoFit/>
          </a:bodyPr>
          <a:lstStyle/>
          <a:p>
            <a:pPr algn="ctr">
              <a:defRPr sz="950" i="1">
                <a:solidFill>
                  <a:srgbClr val="64748B"/>
                </a:solidFill>
              </a:defRPr>
            </a:pPr>
            <a:r>
              <a:t>Figure 2: Time to First Byte (TTFB) vs. Network RTT across WFC, IACK, and Load-Aware</a:t>
            </a:r>
          </a:p>
        </p:txBody>
      </p:sp>
      <p:sp>
        <p:nvSpPr>
          <p:cNvPr id="7" name="Rounded Rectangle 6"/>
          <p:cNvSpPr/>
          <p:nvPr/>
        </p:nvSpPr>
        <p:spPr>
          <a:xfrm>
            <a:off x="7132320" y="1554480"/>
            <a:ext cx="42976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691640"/>
            <a:ext cx="3931920" cy="4297680"/>
          </a:xfrm>
          <a:prstGeom prst="rect">
            <a:avLst/>
          </a:prstGeom>
          <a:noFill/>
        </p:spPr>
        <p:txBody>
          <a:bodyPr wrap="square">
            <a:spAutoFit/>
          </a:bodyPr>
          <a:lstStyle/>
          <a:p>
            <a:pPr>
              <a:spcAft>
                <a:spcPts val="800"/>
              </a:spcAft>
              <a:defRPr sz="1300" b="1">
                <a:solidFill>
                  <a:srgbClr val="0F172A"/>
                </a:solidFill>
              </a:defRPr>
            </a:pPr>
            <a:r>
              <a:t>Application Stream Analysis</a:t>
            </a:r>
          </a:p>
          <a:p>
            <a:pPr>
              <a:spcAft>
                <a:spcPts val="700"/>
              </a:spcAft>
            </a:pPr>
            <a:r>
              <a:rPr b="1">
                <a:solidFill>
                  <a:srgbClr val="2563EB"/>
                </a:solidFill>
              </a:rPr>
              <a:t>• </a:t>
            </a:r>
            <a:r>
              <a:rPr b="1" sz="1100">
                <a:solidFill>
                  <a:srgbClr val="0F172A"/>
                </a:solidFill>
              </a:rPr>
              <a:t>Why Measure TTFB?: </a:t>
            </a:r>
            <a:r>
              <a:rPr sz="1100">
                <a:solidFill>
                  <a:srgbClr val="1E293B"/>
                </a:solidFill>
              </a:rPr>
              <a:t>TTFB measures when the client actually receives the first HTTP/3 application stream data byte—the true metric of user experience.</a:t>
            </a:r>
          </a:p>
          <a:p>
            <a:pPr>
              <a:spcAft>
                <a:spcPts val="700"/>
              </a:spcAft>
            </a:pPr>
            <a:r>
              <a:rPr b="1">
                <a:solidFill>
                  <a:srgbClr val="2563EB"/>
                </a:solidFill>
              </a:rPr>
              <a:t>• </a:t>
            </a:r>
            <a:r>
              <a:rPr b="1" sz="1100">
                <a:solidFill>
                  <a:srgbClr val="0F172A"/>
                </a:solidFill>
              </a:rPr>
              <a:t>Linear Scaling: </a:t>
            </a:r>
            <a:r>
              <a:rPr sz="1100">
                <a:solidFill>
                  <a:srgbClr val="1E293B"/>
                </a:solidFill>
              </a:rPr>
              <a:t>TTFB scales strictly linearly with RTT across all three policies: ~35ms at RTT=10ms, ~56ms at RTT=30ms, ~86ms at RTT=60ms, and ~126ms at RTT=100ms.</a:t>
            </a:r>
          </a:p>
          <a:p>
            <a:pPr>
              <a:spcAft>
                <a:spcPts val="700"/>
              </a:spcAft>
            </a:pPr>
            <a:r>
              <a:rPr b="1">
                <a:solidFill>
                  <a:srgbClr val="2563EB"/>
                </a:solidFill>
              </a:rPr>
              <a:t>• </a:t>
            </a:r>
            <a:r>
              <a:rPr b="1" sz="1100">
                <a:solidFill>
                  <a:srgbClr val="0F172A"/>
                </a:solidFill>
              </a:rPr>
              <a:t>Zero Payload Penalty: </a:t>
            </a:r>
            <a:r>
              <a:rPr sz="1100">
                <a:solidFill>
                  <a:srgbClr val="1E293B"/>
                </a:solidFill>
              </a:rPr>
              <a:t>Splitting the handshake into two datagrams in IACK does not delay 1-RTT stream application payload delivery.</a:t>
            </a:r>
          </a:p>
          <a:p>
            <a:pPr>
              <a:spcAft>
                <a:spcPts val="700"/>
              </a:spcAft>
            </a:pPr>
            <a:r>
              <a:rPr b="1">
                <a:solidFill>
                  <a:srgbClr val="2563EB"/>
                </a:solidFill>
              </a:rPr>
              <a:t>• </a:t>
            </a:r>
            <a:r>
              <a:rPr b="1" sz="1100">
                <a:solidFill>
                  <a:srgbClr val="0F172A"/>
                </a:solidFill>
              </a:rPr>
              <a:t>Equivalence: </a:t>
            </a:r>
            <a:r>
              <a:rPr sz="1100">
                <a:solidFill>
                  <a:srgbClr val="1E293B"/>
                </a:solidFill>
              </a:rPr>
              <a:t>Proves that optimizing handshake packet timing does not compromise HTTP/3 data transmission.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2560320" cy="292608"/>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RESULTS &amp; FINDINGS</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0F172A"/>
                </a:solidFill>
              </a:defRPr>
            </a:pPr>
            <a:r>
              <a:t>Figure 3: Handshake Scalability Under Concurrency (Core Thesis)</a:t>
            </a:r>
          </a:p>
          <a:p>
            <a:pPr>
              <a:defRPr sz="1200" i="1">
                <a:solidFill>
                  <a:srgbClr val="64748B"/>
                </a:solidFill>
              </a:defRPr>
            </a:pPr>
            <a:r>
              <a:t>Static IACK degrades sharply to 128+ ms under concurrency; Load-Aware caps latency at 102 ms (~20% speedup).</a:t>
            </a:r>
          </a:p>
        </p:txBody>
      </p:sp>
      <p:sp>
        <p:nvSpPr>
          <p:cNvPr id="4" name="TextBox 3"/>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COL724 / COL7524: Advanced Computer Networks (IIT Delhi)  |  Ayush Arya  |  Slide 12 of 21</a:t>
            </a:r>
          </a:p>
        </p:txBody>
      </p:sp>
      <p:pic>
        <p:nvPicPr>
          <p:cNvPr id="5" name="Picture 4" descr="fig3_latency_under_load.png"/>
          <p:cNvPicPr>
            <a:picLocks noChangeAspect="1"/>
          </p:cNvPicPr>
          <p:nvPr/>
        </p:nvPicPr>
        <p:blipFill>
          <a:blip r:embed="rId2"/>
          <a:stretch>
            <a:fillRect/>
          </a:stretch>
        </p:blipFill>
        <p:spPr>
          <a:xfrm>
            <a:off x="731520" y="1554480"/>
            <a:ext cx="6217920" cy="4572000"/>
          </a:xfrm>
          <a:prstGeom prst="rect">
            <a:avLst/>
          </a:prstGeom>
        </p:spPr>
      </p:pic>
      <p:sp>
        <p:nvSpPr>
          <p:cNvPr id="6" name="TextBox 5"/>
          <p:cNvSpPr txBox="1"/>
          <p:nvPr/>
        </p:nvSpPr>
        <p:spPr>
          <a:xfrm>
            <a:off x="731520" y="6172200"/>
            <a:ext cx="6217920" cy="274320"/>
          </a:xfrm>
          <a:prstGeom prst="rect">
            <a:avLst/>
          </a:prstGeom>
          <a:noFill/>
        </p:spPr>
        <p:txBody>
          <a:bodyPr wrap="none">
            <a:spAutoFit/>
          </a:bodyPr>
          <a:lstStyle/>
          <a:p>
            <a:pPr algn="ctr">
              <a:defRPr sz="950" i="1">
                <a:solidFill>
                  <a:srgbClr val="64748B"/>
                </a:solidFill>
              </a:defRPr>
            </a:pPr>
            <a:r>
              <a:t>Figure 3: Median and p95 Handshake Latency under concurrency surge (1 to 75 concurrent handshakes)</a:t>
            </a:r>
          </a:p>
        </p:txBody>
      </p:sp>
      <p:sp>
        <p:nvSpPr>
          <p:cNvPr id="7" name="Rounded Rectangle 6"/>
          <p:cNvSpPr/>
          <p:nvPr/>
        </p:nvSpPr>
        <p:spPr>
          <a:xfrm>
            <a:off x="7132320" y="1554480"/>
            <a:ext cx="42976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691640"/>
            <a:ext cx="3931920" cy="4297680"/>
          </a:xfrm>
          <a:prstGeom prst="rect">
            <a:avLst/>
          </a:prstGeom>
          <a:noFill/>
        </p:spPr>
        <p:txBody>
          <a:bodyPr wrap="square">
            <a:spAutoFit/>
          </a:bodyPr>
          <a:lstStyle/>
          <a:p>
            <a:pPr>
              <a:spcAft>
                <a:spcPts val="800"/>
              </a:spcAft>
              <a:defRPr sz="1300" b="1">
                <a:solidFill>
                  <a:srgbClr val="0F172A"/>
                </a:solidFill>
              </a:defRPr>
            </a:pPr>
            <a:r>
              <a:t>The Core Thesis Validated</a:t>
            </a:r>
          </a:p>
          <a:p>
            <a:pPr>
              <a:spcAft>
                <a:spcPts val="700"/>
              </a:spcAft>
            </a:pPr>
            <a:r>
              <a:rPr b="1">
                <a:solidFill>
                  <a:srgbClr val="2563EB"/>
                </a:solidFill>
              </a:rPr>
              <a:t>• </a:t>
            </a:r>
            <a:r>
              <a:rPr b="1" sz="1100">
                <a:solidFill>
                  <a:srgbClr val="0F172A"/>
                </a:solidFill>
              </a:rPr>
              <a:t>Static IACK Degradation: </a:t>
            </a:r>
            <a:r>
              <a:rPr sz="1100">
                <a:solidFill>
                  <a:srgbClr val="1E293B"/>
                </a:solidFill>
              </a:rPr>
              <a:t>As concurrency grows from 1 to 50 clients, Static IACK latency explodes from 46.1 ms to 128.8 ms (and 148 ms at 75 clients) due to syscall doubling and socket queue congestion.</a:t>
            </a:r>
          </a:p>
          <a:p>
            <a:pPr>
              <a:spcAft>
                <a:spcPts val="700"/>
              </a:spcAft>
            </a:pPr>
            <a:r>
              <a:rPr b="1">
                <a:solidFill>
                  <a:srgbClr val="2563EB"/>
                </a:solidFill>
              </a:rPr>
              <a:t>• </a:t>
            </a:r>
            <a:r>
              <a:rPr b="1" sz="1100">
                <a:solidFill>
                  <a:srgbClr val="0F172A"/>
                </a:solidFill>
              </a:rPr>
              <a:t>Load-Aware Throttling: </a:t>
            </a:r>
            <a:r>
              <a:rPr sz="1100">
                <a:solidFill>
                  <a:srgbClr val="1E293B"/>
                </a:solidFill>
              </a:rPr>
              <a:t>Load-Aware detects active handshakes crossing τ_high = 8, autonomously shifting to coalesced WFC.</a:t>
            </a:r>
          </a:p>
          <a:p>
            <a:pPr>
              <a:spcAft>
                <a:spcPts val="700"/>
              </a:spcAft>
            </a:pPr>
            <a:r>
              <a:rPr b="1">
                <a:solidFill>
                  <a:srgbClr val="2563EB"/>
                </a:solidFill>
              </a:rPr>
              <a:t>• </a:t>
            </a:r>
            <a:r>
              <a:rPr b="1" sz="1100">
                <a:solidFill>
                  <a:srgbClr val="0F172A"/>
                </a:solidFill>
              </a:rPr>
              <a:t>Concrete Improvement: </a:t>
            </a:r>
            <a:r>
              <a:rPr sz="1100">
                <a:solidFill>
                  <a:srgbClr val="1E293B"/>
                </a:solidFill>
              </a:rPr>
              <a:t>At 50 clients: Static IACK is 128.8 ms, while Load-Aware is 102.8 ms—a 20.2% latency reduction (26.0 ms faster)!</a:t>
            </a:r>
          </a:p>
          <a:p>
            <a:pPr>
              <a:spcAft>
                <a:spcPts val="700"/>
              </a:spcAft>
            </a:pPr>
            <a:r>
              <a:rPr b="1">
                <a:solidFill>
                  <a:srgbClr val="2563EB"/>
                </a:solidFill>
              </a:rPr>
              <a:t>• </a:t>
            </a:r>
            <a:r>
              <a:rPr b="1" sz="1100">
                <a:solidFill>
                  <a:srgbClr val="0F172A"/>
                </a:solidFill>
              </a:rPr>
              <a:t>Tail Latency Bounded: </a:t>
            </a:r>
            <a:r>
              <a:rPr sz="1100">
                <a:solidFill>
                  <a:srgbClr val="1E293B"/>
                </a:solidFill>
              </a:rPr>
              <a:t>p95 tail latency (dashed line) remains tightly controlled under Load-Aware, avoiding the severe tail blowout of Static IACK.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2560320" cy="292608"/>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RESULTS &amp; FINDINGS</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0F172A"/>
                </a:solidFill>
              </a:defRPr>
            </a:pPr>
            <a:r>
              <a:t>Figure 4: Autonomous Closed-Loop Decision Transition</a:t>
            </a:r>
          </a:p>
          <a:p>
            <a:pPr>
              <a:defRPr sz="1200" i="1">
                <a:solidFill>
                  <a:srgbClr val="64748B"/>
                </a:solidFill>
              </a:defRPr>
            </a:pPr>
            <a:r>
              <a:t>Stacked bar chart showing the automated shift from 100% IACK to 93%+ WFC fallback as load surges.</a:t>
            </a:r>
          </a:p>
        </p:txBody>
      </p:sp>
      <p:sp>
        <p:nvSpPr>
          <p:cNvPr id="4" name="TextBox 3"/>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COL724 / COL7524: Advanced Computer Networks (IIT Delhi)  |  Ayush Arya  |  Slide 13 of 21</a:t>
            </a:r>
          </a:p>
        </p:txBody>
      </p:sp>
      <p:pic>
        <p:nvPicPr>
          <p:cNvPr id="5" name="Picture 4" descr="fig4_policy_decision_transition.png"/>
          <p:cNvPicPr>
            <a:picLocks noChangeAspect="1"/>
          </p:cNvPicPr>
          <p:nvPr/>
        </p:nvPicPr>
        <p:blipFill>
          <a:blip r:embed="rId2"/>
          <a:stretch>
            <a:fillRect/>
          </a:stretch>
        </p:blipFill>
        <p:spPr>
          <a:xfrm>
            <a:off x="731520" y="1554480"/>
            <a:ext cx="6217920" cy="4572000"/>
          </a:xfrm>
          <a:prstGeom prst="rect">
            <a:avLst/>
          </a:prstGeom>
        </p:spPr>
      </p:pic>
      <p:sp>
        <p:nvSpPr>
          <p:cNvPr id="6" name="TextBox 5"/>
          <p:cNvSpPr txBox="1"/>
          <p:nvPr/>
        </p:nvSpPr>
        <p:spPr>
          <a:xfrm>
            <a:off x="731520" y="6172200"/>
            <a:ext cx="6217920" cy="274320"/>
          </a:xfrm>
          <a:prstGeom prst="rect">
            <a:avLst/>
          </a:prstGeom>
          <a:noFill/>
        </p:spPr>
        <p:txBody>
          <a:bodyPr wrap="none">
            <a:spAutoFit/>
          </a:bodyPr>
          <a:lstStyle/>
          <a:p>
            <a:pPr algn="ctr">
              <a:defRPr sz="950" i="1">
                <a:solidFill>
                  <a:srgbClr val="64748B"/>
                </a:solidFill>
              </a:defRPr>
            </a:pPr>
            <a:r>
              <a:t>Figure 4: Server policy decisions (IACK green vs. WFC blue) across concurrent client loads</a:t>
            </a:r>
          </a:p>
        </p:txBody>
      </p:sp>
      <p:sp>
        <p:nvSpPr>
          <p:cNvPr id="7" name="Rounded Rectangle 6"/>
          <p:cNvSpPr/>
          <p:nvPr/>
        </p:nvSpPr>
        <p:spPr>
          <a:xfrm>
            <a:off x="7132320" y="1554480"/>
            <a:ext cx="42976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691640"/>
            <a:ext cx="3931920" cy="4297680"/>
          </a:xfrm>
          <a:prstGeom prst="rect">
            <a:avLst/>
          </a:prstGeom>
          <a:noFill/>
        </p:spPr>
        <p:txBody>
          <a:bodyPr wrap="square">
            <a:spAutoFit/>
          </a:bodyPr>
          <a:lstStyle/>
          <a:p>
            <a:pPr>
              <a:spcAft>
                <a:spcPts val="800"/>
              </a:spcAft>
              <a:defRPr sz="1300" b="1">
                <a:solidFill>
                  <a:srgbClr val="0F172A"/>
                </a:solidFill>
              </a:defRPr>
            </a:pPr>
            <a:r>
              <a:t>Dynamic Adaptation Breakdown</a:t>
            </a:r>
          </a:p>
          <a:p>
            <a:pPr>
              <a:spcAft>
                <a:spcPts val="700"/>
              </a:spcAft>
            </a:pPr>
            <a:r>
              <a:rPr b="1">
                <a:solidFill>
                  <a:srgbClr val="2563EB"/>
                </a:solidFill>
              </a:rPr>
              <a:t>• </a:t>
            </a:r>
            <a:r>
              <a:rPr b="1" sz="1100">
                <a:solidFill>
                  <a:srgbClr val="0F172A"/>
                </a:solidFill>
              </a:rPr>
              <a:t>1 to 5 Clients: </a:t>
            </a:r>
            <a:r>
              <a:rPr sz="1100">
                <a:solidFill>
                  <a:srgbClr val="1E293B"/>
                </a:solidFill>
              </a:rPr>
              <a:t>100% IACK decisions (green). The server operates fully in Fast-PTO low-latency mode.</a:t>
            </a:r>
          </a:p>
          <a:p>
            <a:pPr>
              <a:spcAft>
                <a:spcPts val="700"/>
              </a:spcAft>
            </a:pPr>
            <a:r>
              <a:rPr b="1">
                <a:solidFill>
                  <a:srgbClr val="2563EB"/>
                </a:solidFill>
              </a:rPr>
              <a:t>• </a:t>
            </a:r>
            <a:r>
              <a:rPr b="1" sz="1100">
                <a:solidFill>
                  <a:srgbClr val="0F172A"/>
                </a:solidFill>
              </a:rPr>
              <a:t>10 Clients (The Threshold): </a:t>
            </a:r>
            <a:r>
              <a:rPr sz="1100">
                <a:solidFill>
                  <a:srgbClr val="1E293B"/>
                </a:solidFill>
              </a:rPr>
              <a:t>70% IACK / 30% WFC. Active handshakes cross τ_high=8; the engine initiates protective throttling.</a:t>
            </a:r>
          </a:p>
          <a:p>
            <a:pPr>
              <a:spcAft>
                <a:spcPts val="700"/>
              </a:spcAft>
            </a:pPr>
            <a:r>
              <a:rPr b="1">
                <a:solidFill>
                  <a:srgbClr val="2563EB"/>
                </a:solidFill>
              </a:rPr>
              <a:t>• </a:t>
            </a:r>
            <a:r>
              <a:rPr b="1" sz="1100">
                <a:solidFill>
                  <a:srgbClr val="0F172A"/>
                </a:solidFill>
              </a:rPr>
              <a:t>20 Clients: </a:t>
            </a:r>
            <a:r>
              <a:rPr sz="1100">
                <a:solidFill>
                  <a:srgbClr val="1E293B"/>
                </a:solidFill>
              </a:rPr>
              <a:t>17.5% IACK / 82.5% WFC. Initial burst arrivals receive IACK; subsequent arrivals coalesce into WFC.</a:t>
            </a:r>
          </a:p>
          <a:p>
            <a:pPr>
              <a:spcAft>
                <a:spcPts val="700"/>
              </a:spcAft>
            </a:pPr>
            <a:r>
              <a:rPr b="1">
                <a:solidFill>
                  <a:srgbClr val="2563EB"/>
                </a:solidFill>
              </a:rPr>
              <a:t>• </a:t>
            </a:r>
            <a:r>
              <a:rPr b="1" sz="1100">
                <a:solidFill>
                  <a:srgbClr val="0F172A"/>
                </a:solidFill>
              </a:rPr>
              <a:t>50 Clients (Surge Overload): </a:t>
            </a:r>
            <a:r>
              <a:rPr sz="1100">
                <a:solidFill>
                  <a:srgbClr val="1E293B"/>
                </a:solidFill>
              </a:rPr>
              <a:t>7% IACK / 93% WFC. Over 93% of connections are coalesced into WFC, shielding the UDP socket buffer and preventing packet drops.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2560320" cy="292608"/>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RESULTS &amp; FINDINGS</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0F172A"/>
                </a:solidFill>
              </a:defRPr>
            </a:pPr>
            <a:r>
              <a:t>Figure 5: Certificate Delay Sweep &amp; The PTO Crossover Boundary</a:t>
            </a:r>
          </a:p>
          <a:p>
            <a:pPr>
              <a:defRPr sz="1200" i="1">
                <a:solidFill>
                  <a:srgbClr val="64748B"/>
                </a:solidFill>
              </a:defRPr>
            </a:pPr>
            <a:r>
              <a:t>Empirical validation of the theoretical failure boundary (Δt &gt; 3 × RTT) where Static IACK collapses.</a:t>
            </a:r>
          </a:p>
        </p:txBody>
      </p:sp>
      <p:sp>
        <p:nvSpPr>
          <p:cNvPr id="4" name="TextBox 3"/>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COL724 / COL7524: Advanced Computer Networks (IIT Delhi)  |  Ayush Arya  |  Slide 14 of 21</a:t>
            </a:r>
          </a:p>
        </p:txBody>
      </p:sp>
      <p:pic>
        <p:nvPicPr>
          <p:cNvPr id="5" name="Picture 4" descr="fig5_cert_delay_sweep_crossover.png"/>
          <p:cNvPicPr>
            <a:picLocks noChangeAspect="1"/>
          </p:cNvPicPr>
          <p:nvPr/>
        </p:nvPicPr>
        <p:blipFill>
          <a:blip r:embed="rId2"/>
          <a:stretch>
            <a:fillRect/>
          </a:stretch>
        </p:blipFill>
        <p:spPr>
          <a:xfrm>
            <a:off x="731520" y="1554480"/>
            <a:ext cx="6217920" cy="4572000"/>
          </a:xfrm>
          <a:prstGeom prst="rect">
            <a:avLst/>
          </a:prstGeom>
        </p:spPr>
      </p:pic>
      <p:sp>
        <p:nvSpPr>
          <p:cNvPr id="6" name="TextBox 5"/>
          <p:cNvSpPr txBox="1"/>
          <p:nvPr/>
        </p:nvSpPr>
        <p:spPr>
          <a:xfrm>
            <a:off x="731520" y="6172200"/>
            <a:ext cx="6217920" cy="274320"/>
          </a:xfrm>
          <a:prstGeom prst="rect">
            <a:avLst/>
          </a:prstGeom>
          <a:noFill/>
        </p:spPr>
        <p:txBody>
          <a:bodyPr wrap="none">
            <a:spAutoFit/>
          </a:bodyPr>
          <a:lstStyle/>
          <a:p>
            <a:pPr algn="ctr">
              <a:defRPr sz="950" i="1">
                <a:solidFill>
                  <a:srgbClr val="64748B"/>
                </a:solidFill>
              </a:defRPr>
            </a:pPr>
            <a:r>
              <a:t>Figure 5: Handshake latency vs. Cert Delay Δt (10ms to 180ms, RTT = 40ms, PTO ≈ 120ms)</a:t>
            </a:r>
          </a:p>
        </p:txBody>
      </p:sp>
      <p:sp>
        <p:nvSpPr>
          <p:cNvPr id="7" name="Rounded Rectangle 6"/>
          <p:cNvSpPr/>
          <p:nvPr/>
        </p:nvSpPr>
        <p:spPr>
          <a:xfrm>
            <a:off x="7132320" y="1554480"/>
            <a:ext cx="42976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691640"/>
            <a:ext cx="3931920" cy="4297680"/>
          </a:xfrm>
          <a:prstGeom prst="rect">
            <a:avLst/>
          </a:prstGeom>
          <a:noFill/>
        </p:spPr>
        <p:txBody>
          <a:bodyPr wrap="square">
            <a:spAutoFit/>
          </a:bodyPr>
          <a:lstStyle/>
          <a:p>
            <a:pPr>
              <a:spcAft>
                <a:spcPts val="800"/>
              </a:spcAft>
              <a:defRPr sz="1300" b="1">
                <a:solidFill>
                  <a:srgbClr val="0F172A"/>
                </a:solidFill>
              </a:defRPr>
            </a:pPr>
            <a:r>
              <a:t>The Theoretical Crossover</a:t>
            </a:r>
          </a:p>
          <a:p>
            <a:pPr>
              <a:spcAft>
                <a:spcPts val="700"/>
              </a:spcAft>
            </a:pPr>
            <a:r>
              <a:rPr b="1">
                <a:solidFill>
                  <a:srgbClr val="2563EB"/>
                </a:solidFill>
              </a:rPr>
              <a:t>• </a:t>
            </a:r>
            <a:r>
              <a:rPr b="1" sz="1100">
                <a:solidFill>
                  <a:srgbClr val="0F172A"/>
                </a:solidFill>
              </a:rPr>
              <a:t>Experimental Setup: </a:t>
            </a:r>
            <a:r>
              <a:rPr sz="1100">
                <a:solidFill>
                  <a:srgbClr val="1E293B"/>
                </a:solidFill>
              </a:rPr>
              <a:t>Path RTT = 40 ms. Initial client PTO = 3 × 40 ms = 120 ms (marked by red dotted line).</a:t>
            </a:r>
          </a:p>
          <a:p>
            <a:pPr>
              <a:spcAft>
                <a:spcPts val="700"/>
              </a:spcAft>
            </a:pPr>
            <a:r>
              <a:rPr b="1">
                <a:solidFill>
                  <a:srgbClr val="2563EB"/>
                </a:solidFill>
              </a:rPr>
              <a:t>• </a:t>
            </a:r>
            <a:r>
              <a:rPr b="1" sz="1100">
                <a:solidFill>
                  <a:srgbClr val="0F172A"/>
                </a:solidFill>
              </a:rPr>
              <a:t>Below the Boundary (Δt &lt; 120ms): </a:t>
            </a:r>
            <a:r>
              <a:rPr sz="1100">
                <a:solidFill>
                  <a:srgbClr val="1E293B"/>
                </a:solidFill>
              </a:rPr>
              <a:t>IACK completes cleanly. Certificate arrives before client PTO expires.</a:t>
            </a:r>
          </a:p>
          <a:p>
            <a:pPr>
              <a:spcAft>
                <a:spcPts val="700"/>
              </a:spcAft>
            </a:pPr>
            <a:r>
              <a:rPr b="1">
                <a:solidFill>
                  <a:srgbClr val="2563EB"/>
                </a:solidFill>
              </a:rPr>
              <a:t>• </a:t>
            </a:r>
            <a:r>
              <a:rPr b="1" sz="1100">
                <a:solidFill>
                  <a:srgbClr val="0F172A"/>
                </a:solidFill>
              </a:rPr>
              <a:t>Beyond the Boundary (Δt &gt; 120ms): </a:t>
            </a:r>
            <a:r>
              <a:rPr sz="1100">
                <a:solidFill>
                  <a:srgbClr val="1E293B"/>
                </a:solidFill>
              </a:rPr>
              <a:t>At Δt = 150–180 ms, effective cert delay exceeds the client's 120 ms PTO. Client timers expire prematurely, firing spurious PTO retransmissions and inflating latency.</a:t>
            </a:r>
          </a:p>
          <a:p>
            <a:pPr>
              <a:spcAft>
                <a:spcPts val="700"/>
              </a:spcAft>
            </a:pPr>
            <a:r>
              <a:rPr b="1">
                <a:solidFill>
                  <a:srgbClr val="2563EB"/>
                </a:solidFill>
              </a:rPr>
              <a:t>• </a:t>
            </a:r>
            <a:r>
              <a:rPr b="1" sz="1100">
                <a:solidFill>
                  <a:srgbClr val="0F172A"/>
                </a:solidFill>
              </a:rPr>
              <a:t>Load-Aware Protection: </a:t>
            </a:r>
            <a:r>
              <a:rPr sz="1100">
                <a:solidFill>
                  <a:srgbClr val="1E293B"/>
                </a:solidFill>
              </a:rPr>
              <a:t>Load-Aware detects the delay inflation and transitions to WFC, preventing spurious timer expirations and maintaining smooth linear scaling.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2560320" cy="292608"/>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RESULTS &amp; FINDINGS</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0F172A"/>
                </a:solidFill>
              </a:defRPr>
            </a:pPr>
            <a:r>
              <a:t>Figure 6: Phased Handshake Decomposition (t1 to t4)</a:t>
            </a:r>
          </a:p>
          <a:p>
            <a:pPr>
              <a:defRPr sz="1200" i="1">
                <a:solidFill>
                  <a:srgbClr val="64748B"/>
                </a:solidFill>
              </a:defRPr>
            </a:pPr>
            <a:r>
              <a:t>Deconstructs handshake wait times: under load, Static IACK certificate gap (t2) balloons due to queueing.</a:t>
            </a:r>
          </a:p>
        </p:txBody>
      </p:sp>
      <p:sp>
        <p:nvSpPr>
          <p:cNvPr id="4" name="TextBox 3"/>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COL724 / COL7524: Advanced Computer Networks (IIT Delhi)  |  Ayush Arya  |  Slide 15 of 21</a:t>
            </a:r>
          </a:p>
        </p:txBody>
      </p:sp>
      <p:pic>
        <p:nvPicPr>
          <p:cNvPr id="5" name="Picture 4" descr="fig6_phase_wait_time_breakdown.png"/>
          <p:cNvPicPr>
            <a:picLocks noChangeAspect="1"/>
          </p:cNvPicPr>
          <p:nvPr/>
        </p:nvPicPr>
        <p:blipFill>
          <a:blip r:embed="rId2"/>
          <a:stretch>
            <a:fillRect/>
          </a:stretch>
        </p:blipFill>
        <p:spPr>
          <a:xfrm>
            <a:off x="731520" y="1554480"/>
            <a:ext cx="6217920" cy="4572000"/>
          </a:xfrm>
          <a:prstGeom prst="rect">
            <a:avLst/>
          </a:prstGeom>
        </p:spPr>
      </p:pic>
      <p:sp>
        <p:nvSpPr>
          <p:cNvPr id="6" name="TextBox 5"/>
          <p:cNvSpPr txBox="1"/>
          <p:nvPr/>
        </p:nvSpPr>
        <p:spPr>
          <a:xfrm>
            <a:off x="731520" y="6172200"/>
            <a:ext cx="6217920" cy="274320"/>
          </a:xfrm>
          <a:prstGeom prst="rect">
            <a:avLst/>
          </a:prstGeom>
          <a:noFill/>
        </p:spPr>
        <p:txBody>
          <a:bodyPr wrap="none">
            <a:spAutoFit/>
          </a:bodyPr>
          <a:lstStyle/>
          <a:p>
            <a:pPr algn="ctr">
              <a:defRPr sz="950" i="1">
                <a:solidFill>
                  <a:srgbClr val="64748B"/>
                </a:solidFill>
              </a:defRPr>
            </a:pPr>
            <a:r>
              <a:t>Figure 6: Phased wait-time breakdown: Low Contention (left) vs. High Contention (right)</a:t>
            </a:r>
          </a:p>
        </p:txBody>
      </p:sp>
      <p:sp>
        <p:nvSpPr>
          <p:cNvPr id="7" name="Rounded Rectangle 6"/>
          <p:cNvSpPr/>
          <p:nvPr/>
        </p:nvSpPr>
        <p:spPr>
          <a:xfrm>
            <a:off x="7132320" y="1554480"/>
            <a:ext cx="42976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691640"/>
            <a:ext cx="3931920" cy="4297680"/>
          </a:xfrm>
          <a:prstGeom prst="rect">
            <a:avLst/>
          </a:prstGeom>
          <a:noFill/>
        </p:spPr>
        <p:txBody>
          <a:bodyPr wrap="square">
            <a:spAutoFit/>
          </a:bodyPr>
          <a:lstStyle/>
          <a:p>
            <a:pPr>
              <a:spcAft>
                <a:spcPts val="800"/>
              </a:spcAft>
              <a:defRPr sz="1300" b="1">
                <a:solidFill>
                  <a:srgbClr val="0F172A"/>
                </a:solidFill>
              </a:defRPr>
            </a:pPr>
            <a:r>
              <a:t>Handshake Phase Anatomy</a:t>
            </a:r>
          </a:p>
          <a:p>
            <a:pPr>
              <a:spcAft>
                <a:spcPts val="700"/>
              </a:spcAft>
            </a:pPr>
            <a:r>
              <a:rPr b="1">
                <a:solidFill>
                  <a:srgbClr val="2563EB"/>
                </a:solidFill>
              </a:rPr>
              <a:t>• </a:t>
            </a:r>
            <a:r>
              <a:rPr b="1" sz="1100">
                <a:solidFill>
                  <a:srgbClr val="0F172A"/>
                </a:solidFill>
              </a:rPr>
              <a:t>Phase Definitions: </a:t>
            </a:r>
            <a:r>
              <a:rPr sz="1100">
                <a:solidFill>
                  <a:srgbClr val="1E293B"/>
                </a:solidFill>
              </a:rPr>
              <a:t>• t1: Time to 1st server packet
• t2: Cert delay gap (time to cert flight)
• t3: Handshake completion
• t4: Application TTFB response</a:t>
            </a:r>
          </a:p>
          <a:p>
            <a:pPr>
              <a:spcAft>
                <a:spcPts val="700"/>
              </a:spcAft>
            </a:pPr>
            <a:r>
              <a:rPr b="1">
                <a:solidFill>
                  <a:srgbClr val="2563EB"/>
                </a:solidFill>
              </a:rPr>
              <a:t>• </a:t>
            </a:r>
            <a:r>
              <a:rPr b="1" sz="1100">
                <a:solidFill>
                  <a:srgbClr val="0F172A"/>
                </a:solidFill>
              </a:rPr>
              <a:t>Low Contention Regime: </a:t>
            </a:r>
            <a:r>
              <a:rPr sz="1100">
                <a:solidFill>
                  <a:srgbClr val="1E293B"/>
                </a:solidFill>
              </a:rPr>
              <a:t>In IACK, t1 drops from 30ms to 10ms because Initial[ACK] is immediate. t2 equals pure cert delay (20ms). Total latency is optimal.</a:t>
            </a:r>
          </a:p>
          <a:p>
            <a:pPr>
              <a:spcAft>
                <a:spcPts val="700"/>
              </a:spcAft>
            </a:pPr>
            <a:r>
              <a:rPr b="1">
                <a:solidFill>
                  <a:srgbClr val="2563EB"/>
                </a:solidFill>
              </a:rPr>
              <a:t>• </a:t>
            </a:r>
            <a:r>
              <a:rPr b="1" sz="1100">
                <a:solidFill>
                  <a:srgbClr val="0F172A"/>
                </a:solidFill>
              </a:rPr>
              <a:t>High Contention Regime: </a:t>
            </a:r>
            <a:r>
              <a:rPr sz="1100">
                <a:solidFill>
                  <a:srgbClr val="1E293B"/>
                </a:solidFill>
              </a:rPr>
              <a:t>In Static IACK, t2 balloons from 20ms to 65+ ms due to socket buffer queueing and context switching.</a:t>
            </a:r>
          </a:p>
          <a:p>
            <a:pPr>
              <a:spcAft>
                <a:spcPts val="700"/>
              </a:spcAft>
            </a:pPr>
            <a:r>
              <a:rPr b="1">
                <a:solidFill>
                  <a:srgbClr val="2563EB"/>
                </a:solidFill>
              </a:rPr>
              <a:t>• </a:t>
            </a:r>
            <a:r>
              <a:rPr b="1" sz="1100">
                <a:solidFill>
                  <a:srgbClr val="0F172A"/>
                </a:solidFill>
              </a:rPr>
              <a:t>Load-Aware Resolution: </a:t>
            </a:r>
            <a:r>
              <a:rPr sz="1100">
                <a:solidFill>
                  <a:srgbClr val="1E293B"/>
                </a:solidFill>
              </a:rPr>
              <a:t>By switching to single-flight coalescing under load, Load-Aware eliminates the t2 queueing penalty.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2560320" cy="292608"/>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RESULTS &amp; FINDINGS</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0F172A"/>
                </a:solidFill>
              </a:defRPr>
            </a:pPr>
            <a:r>
              <a:t>Figure 7: Hysteresis Threshold Sensitivity Sweep</a:t>
            </a:r>
          </a:p>
          <a:p>
            <a:pPr>
              <a:defRPr sz="1200" i="1">
                <a:solidFill>
                  <a:srgbClr val="64748B"/>
                </a:solidFill>
              </a:defRPr>
            </a:pPr>
            <a:r>
              <a:t>Proves that the deadband [τ_low=4, τ_high=8] provides the optimal balance of agility and anti-flapping stability.</a:t>
            </a:r>
          </a:p>
        </p:txBody>
      </p:sp>
      <p:sp>
        <p:nvSpPr>
          <p:cNvPr id="4" name="TextBox 3"/>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COL724 / COL7524: Advanced Computer Networks (IIT Delhi)  |  Ayush Arya  |  Slide 16 of 21</a:t>
            </a:r>
          </a:p>
        </p:txBody>
      </p:sp>
      <p:pic>
        <p:nvPicPr>
          <p:cNvPr id="5" name="Picture 4" descr="fig7_threshold_sensitivity.png"/>
          <p:cNvPicPr>
            <a:picLocks noChangeAspect="1"/>
          </p:cNvPicPr>
          <p:nvPr/>
        </p:nvPicPr>
        <p:blipFill>
          <a:blip r:embed="rId2"/>
          <a:stretch>
            <a:fillRect/>
          </a:stretch>
        </p:blipFill>
        <p:spPr>
          <a:xfrm>
            <a:off x="731520" y="1554480"/>
            <a:ext cx="6217920" cy="4572000"/>
          </a:xfrm>
          <a:prstGeom prst="rect">
            <a:avLst/>
          </a:prstGeom>
        </p:spPr>
      </p:pic>
      <p:sp>
        <p:nvSpPr>
          <p:cNvPr id="6" name="TextBox 5"/>
          <p:cNvSpPr txBox="1"/>
          <p:nvPr/>
        </p:nvSpPr>
        <p:spPr>
          <a:xfrm>
            <a:off x="731520" y="6172200"/>
            <a:ext cx="6217920" cy="274320"/>
          </a:xfrm>
          <a:prstGeom prst="rect">
            <a:avLst/>
          </a:prstGeom>
          <a:noFill/>
        </p:spPr>
        <p:txBody>
          <a:bodyPr wrap="none">
            <a:spAutoFit/>
          </a:bodyPr>
          <a:lstStyle/>
          <a:p>
            <a:pPr algn="ctr">
              <a:defRPr sz="950" i="1">
                <a:solidFill>
                  <a:srgbClr val="64748B"/>
                </a:solidFill>
              </a:defRPr>
            </a:pPr>
            <a:r>
              <a:t>Figure 7: Median and p95 Handshake Latency across threshold deadbands at 25 concurrent handshakes</a:t>
            </a:r>
          </a:p>
        </p:txBody>
      </p:sp>
      <p:sp>
        <p:nvSpPr>
          <p:cNvPr id="7" name="Rounded Rectangle 6"/>
          <p:cNvSpPr/>
          <p:nvPr/>
        </p:nvSpPr>
        <p:spPr>
          <a:xfrm>
            <a:off x="7132320" y="1554480"/>
            <a:ext cx="42976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691640"/>
            <a:ext cx="3931920" cy="4297680"/>
          </a:xfrm>
          <a:prstGeom prst="rect">
            <a:avLst/>
          </a:prstGeom>
          <a:noFill/>
        </p:spPr>
        <p:txBody>
          <a:bodyPr wrap="square">
            <a:spAutoFit/>
          </a:bodyPr>
          <a:lstStyle/>
          <a:p>
            <a:pPr>
              <a:spcAft>
                <a:spcPts val="800"/>
              </a:spcAft>
              <a:defRPr sz="1300" b="1">
                <a:solidFill>
                  <a:srgbClr val="0F172A"/>
                </a:solidFill>
              </a:defRPr>
            </a:pPr>
            <a:r>
              <a:t>Threshold Sensitivity Analysis</a:t>
            </a:r>
          </a:p>
          <a:p>
            <a:pPr>
              <a:spcAft>
                <a:spcPts val="700"/>
              </a:spcAft>
            </a:pPr>
            <a:r>
              <a:rPr b="1">
                <a:solidFill>
                  <a:srgbClr val="2563EB"/>
                </a:solidFill>
              </a:rPr>
              <a:t>• </a:t>
            </a:r>
            <a:r>
              <a:rPr b="1" sz="1100">
                <a:solidFill>
                  <a:srgbClr val="0F172A"/>
                </a:solidFill>
              </a:rPr>
              <a:t>Configurations Tested: </a:t>
            </a:r>
            <a:r>
              <a:rPr sz="1100">
                <a:solidFill>
                  <a:srgbClr val="1E293B"/>
                </a:solidFill>
              </a:rPr>
              <a:t>Evaluated deadband pairs: [2, 4], [4, 8], [8, 16], and [15, 30] at 25 concurrent handshakes.</a:t>
            </a:r>
          </a:p>
          <a:p>
            <a:pPr>
              <a:spcAft>
                <a:spcPts val="700"/>
              </a:spcAft>
            </a:pPr>
            <a:r>
              <a:rPr b="1">
                <a:solidFill>
                  <a:srgbClr val="2563EB"/>
                </a:solidFill>
              </a:rPr>
              <a:t>• </a:t>
            </a:r>
            <a:r>
              <a:rPr b="1" sz="1100">
                <a:solidFill>
                  <a:srgbClr val="0F172A"/>
                </a:solidFill>
              </a:rPr>
              <a:t>[2, 4] Pair (Overly Sensitive): </a:t>
            </a:r>
            <a:r>
              <a:rPr sz="1100">
                <a:solidFill>
                  <a:srgbClr val="1E293B"/>
                </a:solidFill>
              </a:rPr>
              <a:t>Transitions too early on transient micro-bursts, causing mode-flapping and forfeiting IACK speedup during brief spikes.</a:t>
            </a:r>
          </a:p>
          <a:p>
            <a:pPr>
              <a:spcAft>
                <a:spcPts val="700"/>
              </a:spcAft>
            </a:pPr>
            <a:r>
              <a:rPr b="1">
                <a:solidFill>
                  <a:srgbClr val="2563EB"/>
                </a:solidFill>
              </a:rPr>
              <a:t>• </a:t>
            </a:r>
            <a:r>
              <a:rPr b="1" sz="1100">
                <a:solidFill>
                  <a:srgbClr val="0F172A"/>
                </a:solidFill>
              </a:rPr>
              <a:t>[15, 30] Pair (Too Sluggish): </a:t>
            </a:r>
            <a:r>
              <a:rPr sz="1100">
                <a:solidFill>
                  <a:srgbClr val="1E293B"/>
                </a:solidFill>
              </a:rPr>
              <a:t>Reacts too late; socket buffers already fill before switching to WFC, causing p95 tail latency blowout (&gt;105 ms).</a:t>
            </a:r>
          </a:p>
          <a:p>
            <a:pPr>
              <a:spcAft>
                <a:spcPts val="700"/>
              </a:spcAft>
            </a:pPr>
            <a:r>
              <a:rPr b="1">
                <a:solidFill>
                  <a:srgbClr val="2563EB"/>
                </a:solidFill>
              </a:rPr>
              <a:t>• </a:t>
            </a:r>
            <a:r>
              <a:rPr b="1" sz="1100">
                <a:solidFill>
                  <a:srgbClr val="0F172A"/>
                </a:solidFill>
              </a:rPr>
              <a:t>[4, 8] Pair (The Optimal Deadband): </a:t>
            </a:r>
            <a:r>
              <a:rPr sz="1100">
                <a:solidFill>
                  <a:srgbClr val="1E293B"/>
                </a:solidFill>
              </a:rPr>
              <a:t>Achieves the lowest combined median (50.8 ms) and p95 tail latency (64.2 ms), providing rock-solid stability.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2560320" cy="292608"/>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RESULTS &amp; FINDINGS</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0F172A"/>
                </a:solidFill>
              </a:defRPr>
            </a:pPr>
            <a:r>
              <a:t>Figure 8: 2D Operational Space Winner Map (Headline Figure)</a:t>
            </a:r>
          </a:p>
          <a:p>
            <a:pPr>
              <a:defRPr sz="1200" i="1">
                <a:solidFill>
                  <a:srgbClr val="64748B"/>
                </a:solidFill>
              </a:defRPr>
            </a:pPr>
            <a:r>
              <a:t>Visualizing the entire design space: static policies fail across half the regimes; Load-Aware dominates throughout.</a:t>
            </a:r>
          </a:p>
        </p:txBody>
      </p:sp>
      <p:sp>
        <p:nvSpPr>
          <p:cNvPr id="4" name="TextBox 3"/>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COL724 / COL7524: Advanced Computer Networks (IIT Delhi)  |  Ayush Arya  |  Slide 17 of 21</a:t>
            </a:r>
          </a:p>
        </p:txBody>
      </p:sp>
      <p:pic>
        <p:nvPicPr>
          <p:cNvPr id="5" name="Picture 4" descr="fig8_winner_heatmap.png"/>
          <p:cNvPicPr>
            <a:picLocks noChangeAspect="1"/>
          </p:cNvPicPr>
          <p:nvPr/>
        </p:nvPicPr>
        <p:blipFill>
          <a:blip r:embed="rId2"/>
          <a:stretch>
            <a:fillRect/>
          </a:stretch>
        </p:blipFill>
        <p:spPr>
          <a:xfrm>
            <a:off x="731520" y="1554480"/>
            <a:ext cx="6217920" cy="4572000"/>
          </a:xfrm>
          <a:prstGeom prst="rect">
            <a:avLst/>
          </a:prstGeom>
        </p:spPr>
      </p:pic>
      <p:sp>
        <p:nvSpPr>
          <p:cNvPr id="6" name="TextBox 5"/>
          <p:cNvSpPr txBox="1"/>
          <p:nvPr/>
        </p:nvSpPr>
        <p:spPr>
          <a:xfrm>
            <a:off x="731520" y="6172200"/>
            <a:ext cx="6217920" cy="274320"/>
          </a:xfrm>
          <a:prstGeom prst="rect">
            <a:avLst/>
          </a:prstGeom>
          <a:noFill/>
        </p:spPr>
        <p:txBody>
          <a:bodyPr wrap="none">
            <a:spAutoFit/>
          </a:bodyPr>
          <a:lstStyle/>
          <a:p>
            <a:pPr algn="ctr">
              <a:defRPr sz="950" i="1">
                <a:solidFill>
                  <a:srgbClr val="64748B"/>
                </a:solidFill>
              </a:defRPr>
            </a:pPr>
            <a:r>
              <a:t>Figure 8: 2D Parameter Space Heatmap (Backend Cert Delay Δt × Concurrent Handshake Load)</a:t>
            </a:r>
          </a:p>
        </p:txBody>
      </p:sp>
      <p:sp>
        <p:nvSpPr>
          <p:cNvPr id="7" name="Rounded Rectangle 6"/>
          <p:cNvSpPr/>
          <p:nvPr/>
        </p:nvSpPr>
        <p:spPr>
          <a:xfrm>
            <a:off x="7132320" y="1554480"/>
            <a:ext cx="42976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691640"/>
            <a:ext cx="3931920" cy="4297680"/>
          </a:xfrm>
          <a:prstGeom prst="rect">
            <a:avLst/>
          </a:prstGeom>
          <a:noFill/>
        </p:spPr>
        <p:txBody>
          <a:bodyPr wrap="square">
            <a:spAutoFit/>
          </a:bodyPr>
          <a:lstStyle/>
          <a:p>
            <a:pPr>
              <a:spcAft>
                <a:spcPts val="800"/>
              </a:spcAft>
              <a:defRPr sz="1300" b="1">
                <a:solidFill>
                  <a:srgbClr val="0F172A"/>
                </a:solidFill>
              </a:defRPr>
            </a:pPr>
            <a:r>
              <a:t>The 2D Parameter Landscape</a:t>
            </a:r>
          </a:p>
          <a:p>
            <a:pPr>
              <a:spcAft>
                <a:spcPts val="700"/>
              </a:spcAft>
            </a:pPr>
            <a:r>
              <a:rPr b="1">
                <a:solidFill>
                  <a:srgbClr val="2563EB"/>
                </a:solidFill>
              </a:rPr>
              <a:t>• </a:t>
            </a:r>
            <a:r>
              <a:rPr b="1" sz="1100">
                <a:solidFill>
                  <a:srgbClr val="0F172A"/>
                </a:solidFill>
              </a:rPr>
              <a:t>Static Policies Are Flawed: </a:t>
            </a:r>
            <a:r>
              <a:rPr sz="1100">
                <a:solidFill>
                  <a:srgbClr val="1E293B"/>
                </a:solidFill>
              </a:rPr>
              <a:t>Orange = Static IACK wins only in bottom-left (low load + low cert delay). Blue = Static WFC wins only in top-right (heavy load).</a:t>
            </a:r>
          </a:p>
          <a:p>
            <a:pPr>
              <a:spcAft>
                <a:spcPts val="700"/>
              </a:spcAft>
            </a:pPr>
            <a:r>
              <a:rPr b="1">
                <a:solidFill>
                  <a:srgbClr val="2563EB"/>
                </a:solidFill>
              </a:rPr>
              <a:t>• </a:t>
            </a:r>
            <a:r>
              <a:rPr b="1" sz="1100">
                <a:solidFill>
                  <a:srgbClr val="0F172A"/>
                </a:solidFill>
              </a:rPr>
              <a:t>The Static Dilemma: </a:t>
            </a:r>
            <a:r>
              <a:rPr sz="1100">
                <a:solidFill>
                  <a:srgbClr val="1E293B"/>
                </a:solidFill>
              </a:rPr>
              <a:t>Any static server deployment is fundamentally suboptimal across at least 50% of real-world operating conditions!</a:t>
            </a:r>
          </a:p>
          <a:p>
            <a:pPr>
              <a:spcAft>
                <a:spcPts val="700"/>
              </a:spcAft>
            </a:pPr>
            <a:r>
              <a:rPr b="1">
                <a:solidFill>
                  <a:srgbClr val="2563EB"/>
                </a:solidFill>
              </a:rPr>
              <a:t>• </a:t>
            </a:r>
            <a:r>
              <a:rPr b="1" sz="1100">
                <a:solidFill>
                  <a:srgbClr val="0F172A"/>
                </a:solidFill>
              </a:rPr>
              <a:t>Load-Aware Dominance: </a:t>
            </a:r>
            <a:r>
              <a:rPr sz="1100">
                <a:solidFill>
                  <a:srgbClr val="1E293B"/>
                </a:solidFill>
              </a:rPr>
              <a:t>Green = Load-Aware matches or beats the best static policy across 100% of the parameter space.</a:t>
            </a:r>
          </a:p>
          <a:p>
            <a:pPr>
              <a:spcAft>
                <a:spcPts val="700"/>
              </a:spcAft>
            </a:pPr>
            <a:r>
              <a:rPr b="1">
                <a:solidFill>
                  <a:srgbClr val="2563EB"/>
                </a:solidFill>
              </a:rPr>
              <a:t>• </a:t>
            </a:r>
            <a:r>
              <a:rPr b="1" sz="1100">
                <a:solidFill>
                  <a:srgbClr val="0F172A"/>
                </a:solidFill>
              </a:rPr>
              <a:t>Core Takeaway: </a:t>
            </a:r>
            <a:r>
              <a:rPr sz="1100">
                <a:solidFill>
                  <a:srgbClr val="1E293B"/>
                </a:solidFill>
              </a:rPr>
              <a:t>Adaptive load-awareness is essential for production QUIC deployments in dynamic edge networks.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2560320" cy="292608"/>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PROGRESS SUMMARY</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0F172A"/>
                </a:solidFill>
              </a:defRPr>
            </a:pPr>
            <a:r>
              <a:t>Work Completed So Far: Milestone 2 Deliverables</a:t>
            </a:r>
          </a:p>
          <a:p>
            <a:pPr>
              <a:defRPr sz="1200" i="1">
                <a:solidFill>
                  <a:srgbClr val="64748B"/>
                </a:solidFill>
              </a:defRPr>
            </a:pPr>
            <a:r>
              <a:t>Complete verification, engine implementation, empirical evaluation, and interactive tooling.</a:t>
            </a:r>
          </a:p>
        </p:txBody>
      </p:sp>
      <p:sp>
        <p:nvSpPr>
          <p:cNvPr id="4" name="TextBox 3"/>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COL724 / COL7524: Advanced Computer Networks (IIT Delhi)  |  Muhammed Nishad  |  Slide 18 of 21</a:t>
            </a:r>
          </a:p>
        </p:txBody>
      </p:sp>
      <p:sp>
        <p:nvSpPr>
          <p:cNvPr id="5" name="Rounded Rectangle 4"/>
          <p:cNvSpPr/>
          <p:nvPr/>
        </p:nvSpPr>
        <p:spPr>
          <a:xfrm>
            <a:off x="731520" y="1554480"/>
            <a:ext cx="512064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754880" cy="4297680"/>
          </a:xfrm>
          <a:prstGeom prst="rect">
            <a:avLst/>
          </a:prstGeom>
          <a:noFill/>
        </p:spPr>
        <p:txBody>
          <a:bodyPr wrap="square">
            <a:spAutoFit/>
          </a:bodyPr>
          <a:lstStyle/>
          <a:p>
            <a:pPr>
              <a:spcAft>
                <a:spcPts val="800"/>
              </a:spcAft>
              <a:defRPr sz="1300" b="1">
                <a:solidFill>
                  <a:srgbClr val="0F172A"/>
                </a:solidFill>
              </a:defRPr>
            </a:pPr>
            <a:r>
              <a:t>Milestone 2 Checklist Completed</a:t>
            </a:r>
          </a:p>
          <a:p>
            <a:pPr>
              <a:spcAft>
                <a:spcPts val="700"/>
              </a:spcAft>
            </a:pPr>
            <a:r>
              <a:rPr b="1">
                <a:solidFill>
                  <a:srgbClr val="2563EB"/>
                </a:solidFill>
              </a:rPr>
              <a:t>• </a:t>
            </a:r>
            <a:r>
              <a:rPr b="1" sz="1100">
                <a:solidFill>
                  <a:srgbClr val="0F172A"/>
                </a:solidFill>
              </a:rPr>
              <a:t>Research Artifact Verified: </a:t>
            </a:r>
            <a:r>
              <a:rPr sz="1100">
                <a:solidFill>
                  <a:srgbClr val="1E293B"/>
                </a:solidFill>
              </a:rPr>
              <a:t>Cloned, compiled, and validated the ACM IMC 2024 quic-go fork on Go 1.20.7 with qtls.</a:t>
            </a:r>
          </a:p>
          <a:p>
            <a:pPr>
              <a:spcAft>
                <a:spcPts val="700"/>
              </a:spcAft>
            </a:pPr>
            <a:r>
              <a:rPr b="1">
                <a:solidFill>
                  <a:srgbClr val="2563EB"/>
                </a:solidFill>
              </a:rPr>
              <a:t>• </a:t>
            </a:r>
            <a:r>
              <a:rPr b="1" sz="1100">
                <a:solidFill>
                  <a:srgbClr val="0F172A"/>
                </a:solidFill>
              </a:rPr>
              <a:t>Multi-Mode QUIC Engine: </a:t>
            </a:r>
            <a:r>
              <a:rPr sz="1100">
                <a:solidFill>
                  <a:srgbClr val="1E293B"/>
                </a:solidFill>
              </a:rPr>
              <a:t>Implemented server with --mode=wfc, --mode=iack, and --mode=loadaware with dynamic connection.go hooks.</a:t>
            </a:r>
          </a:p>
          <a:p>
            <a:pPr>
              <a:spcAft>
                <a:spcPts val="700"/>
              </a:spcAft>
            </a:pPr>
            <a:r>
              <a:rPr b="1">
                <a:solidFill>
                  <a:srgbClr val="2563EB"/>
                </a:solidFill>
              </a:rPr>
              <a:t>• </a:t>
            </a:r>
            <a:r>
              <a:rPr b="1" sz="1100">
                <a:solidFill>
                  <a:srgbClr val="0F172A"/>
                </a:solidFill>
              </a:rPr>
              <a:t>Schmitt-Trigger Controller: </a:t>
            </a:r>
            <a:r>
              <a:rPr sz="1100">
                <a:solidFill>
                  <a:srgbClr val="1E293B"/>
                </a:solidFill>
              </a:rPr>
              <a:t>Engineered loadmonitor.go with atomic active connection tracking and [4, 8] hysteresis deadband.</a:t>
            </a:r>
          </a:p>
          <a:p>
            <a:pPr>
              <a:spcAft>
                <a:spcPts val="700"/>
              </a:spcAft>
            </a:pPr>
            <a:r>
              <a:rPr b="1">
                <a:solidFill>
                  <a:srgbClr val="2563EB"/>
                </a:solidFill>
              </a:rPr>
              <a:t>• </a:t>
            </a:r>
            <a:r>
              <a:rPr b="1" sz="1100">
                <a:solidFill>
                  <a:srgbClr val="0F172A"/>
                </a:solidFill>
              </a:rPr>
              <a:t>High-Precision Testbed: </a:t>
            </a:r>
            <a:r>
              <a:rPr sz="1100">
                <a:solidFill>
                  <a:srgbClr val="1E293B"/>
                </a:solidFill>
              </a:rPr>
              <a:t>Built UDP proxy emulator (cmd/proxy) with nanosecond latency, 4MB buffers, and measurement client (cmd/client).</a:t>
            </a:r>
          </a:p>
          <a:p>
            <a:pPr>
              <a:spcAft>
                <a:spcPts val="700"/>
              </a:spcAft>
            </a:pPr>
            <a:r>
              <a:rPr b="1">
                <a:solidFill>
                  <a:srgbClr val="2563EB"/>
                </a:solidFill>
              </a:rPr>
              <a:t>• </a:t>
            </a:r>
            <a:r>
              <a:rPr b="1" sz="1100">
                <a:solidFill>
                  <a:srgbClr val="0F172A"/>
                </a:solidFill>
              </a:rPr>
              <a:t>8 Baseline Experiments: </a:t>
            </a:r>
            <a:r>
              <a:rPr sz="1100">
                <a:solidFill>
                  <a:srgbClr val="1E293B"/>
                </a:solidFill>
              </a:rPr>
              <a:t>Generated complete reproducible CSV benchmark datasets and 8 publication figures.</a:t>
            </a:r>
          </a:p>
        </p:txBody>
      </p:sp>
      <p:sp>
        <p:nvSpPr>
          <p:cNvPr id="7" name="Rounded Rectangle 6"/>
          <p:cNvSpPr/>
          <p:nvPr/>
        </p:nvSpPr>
        <p:spPr>
          <a:xfrm>
            <a:off x="6217920" y="1554480"/>
            <a:ext cx="52120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4297680"/>
          </a:xfrm>
          <a:prstGeom prst="rect">
            <a:avLst/>
          </a:prstGeom>
          <a:noFill/>
        </p:spPr>
        <p:txBody>
          <a:bodyPr wrap="square">
            <a:spAutoFit/>
          </a:bodyPr>
          <a:lstStyle/>
          <a:p>
            <a:pPr>
              <a:spcAft>
                <a:spcPts val="800"/>
              </a:spcAft>
              <a:defRPr sz="1300" b="1">
                <a:solidFill>
                  <a:srgbClr val="0F172A"/>
                </a:solidFill>
              </a:defRPr>
            </a:pPr>
            <a:r>
              <a:t>Interactive Artifacts &amp; Open Source</a:t>
            </a:r>
          </a:p>
          <a:p>
            <a:pPr>
              <a:spcAft>
                <a:spcPts val="700"/>
              </a:spcAft>
            </a:pPr>
            <a:r>
              <a:rPr b="1">
                <a:solidFill>
                  <a:srgbClr val="2563EB"/>
                </a:solidFill>
              </a:rPr>
              <a:t>• </a:t>
            </a:r>
            <a:r>
              <a:rPr b="1" sz="1100">
                <a:solidFill>
                  <a:srgbClr val="0F172A"/>
                </a:solidFill>
              </a:rPr>
              <a:t>Live Streamlit Dashboard: </a:t>
            </a:r>
            <a:r>
              <a:rPr sz="1100">
                <a:solidFill>
                  <a:srgbClr val="1E293B"/>
                </a:solidFill>
              </a:rPr>
              <a:t>Built interactive web monitor (implementation/dashboard/app.py) displaying live server gauges, active handshakes, and policy transitions at localhost:8501.</a:t>
            </a:r>
          </a:p>
          <a:p>
            <a:pPr>
              <a:spcAft>
                <a:spcPts val="700"/>
              </a:spcAft>
            </a:pPr>
            <a:r>
              <a:rPr b="1">
                <a:solidFill>
                  <a:srgbClr val="2563EB"/>
                </a:solidFill>
              </a:rPr>
              <a:t>• </a:t>
            </a:r>
            <a:r>
              <a:rPr b="1" sz="1100">
                <a:solidFill>
                  <a:srgbClr val="0F172A"/>
                </a:solidFill>
              </a:rPr>
              <a:t>Comprehensive Documentation: </a:t>
            </a:r>
            <a:r>
              <a:rPr sz="1100">
                <a:solidFill>
                  <a:srgbClr val="1E293B"/>
                </a:solidFill>
              </a:rPr>
              <a:t>Authored PROJECT_README.md, CODE_AND_EXPERIMENT_GUIDE.md, and automated test reproduction suites.</a:t>
            </a:r>
          </a:p>
          <a:p>
            <a:pPr>
              <a:spcAft>
                <a:spcPts val="700"/>
              </a:spcAft>
            </a:pPr>
            <a:r>
              <a:rPr b="1">
                <a:solidFill>
                  <a:srgbClr val="2563EB"/>
                </a:solidFill>
              </a:rPr>
              <a:t>• </a:t>
            </a:r>
            <a:r>
              <a:rPr b="1" sz="1100">
                <a:solidFill>
                  <a:srgbClr val="0F172A"/>
                </a:solidFill>
              </a:rPr>
              <a:t>Automated Pipeline: </a:t>
            </a:r>
            <a:r>
              <a:rPr sz="1100">
                <a:solidFill>
                  <a:srgbClr val="1E293B"/>
                </a:solidFill>
              </a:rPr>
              <a:t>Single-command reproduction via run_experiments.py and generate_plots.py.</a:t>
            </a:r>
          </a:p>
          <a:p>
            <a:pPr>
              <a:spcAft>
                <a:spcPts val="700"/>
              </a:spcAft>
            </a:pPr>
            <a:r>
              <a:rPr b="1">
                <a:solidFill>
                  <a:srgbClr val="2563EB"/>
                </a:solidFill>
              </a:rPr>
              <a:t>• </a:t>
            </a:r>
            <a:r>
              <a:rPr b="1" sz="1100">
                <a:solidFill>
                  <a:srgbClr val="0F172A"/>
                </a:solidFill>
              </a:rPr>
              <a:t>Defense Preparedness: </a:t>
            </a:r>
            <a:r>
              <a:rPr sz="1100">
                <a:solidFill>
                  <a:srgbClr val="1E293B"/>
                </a:solidFill>
              </a:rPr>
              <a:t>Full theoretical derivation and parameter tuning verified.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2560320" cy="292608"/>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FUTURE WORK &amp; NEXT DIRECTIONS</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0F172A"/>
                </a:solidFill>
              </a:defRPr>
            </a:pPr>
            <a:r>
              <a:t>Future Work 1: Stress Testing Insights &amp; Theoretical Discoveries</a:t>
            </a:r>
          </a:p>
          <a:p>
            <a:pPr>
              <a:defRPr sz="1200" i="1">
                <a:solidFill>
                  <a:srgbClr val="64748B"/>
                </a:solidFill>
              </a:defRPr>
            </a:pPr>
            <a:r>
              <a:t>Beyond baseline: probing extreme adversarial regimes, flash crowds, and fundamental transport trade-offs.</a:t>
            </a:r>
          </a:p>
        </p:txBody>
      </p:sp>
      <p:sp>
        <p:nvSpPr>
          <p:cNvPr id="4" name="TextBox 3"/>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COL724 / COL7524: Advanced Computer Networks (IIT Delhi)  |  Ayush Arya  |  Slide 19 of 21</a:t>
            </a:r>
          </a:p>
        </p:txBody>
      </p:sp>
      <p:pic>
        <p:nvPicPr>
          <p:cNvPr id="5" name="Picture 4" descr="diag_stress_tests_summary.png"/>
          <p:cNvPicPr>
            <a:picLocks noChangeAspect="1"/>
          </p:cNvPicPr>
          <p:nvPr/>
        </p:nvPicPr>
        <p:blipFill>
          <a:blip r:embed="rId2"/>
          <a:stretch>
            <a:fillRect/>
          </a:stretch>
        </p:blipFill>
        <p:spPr>
          <a:xfrm>
            <a:off x="731520" y="1554480"/>
            <a:ext cx="6217920" cy="4572000"/>
          </a:xfrm>
          <a:prstGeom prst="rect">
            <a:avLst/>
          </a:prstGeom>
        </p:spPr>
      </p:pic>
      <p:sp>
        <p:nvSpPr>
          <p:cNvPr id="6" name="TextBox 5"/>
          <p:cNvSpPr txBox="1"/>
          <p:nvPr/>
        </p:nvSpPr>
        <p:spPr>
          <a:xfrm>
            <a:off x="731520" y="6172200"/>
            <a:ext cx="6217920" cy="274320"/>
          </a:xfrm>
          <a:prstGeom prst="rect">
            <a:avLst/>
          </a:prstGeom>
          <a:noFill/>
        </p:spPr>
        <p:txBody>
          <a:bodyPr wrap="none">
            <a:spAutoFit/>
          </a:bodyPr>
          <a:lstStyle/>
          <a:p>
            <a:pPr algn="ctr">
              <a:defRPr sz="950" i="1">
                <a:solidFill>
                  <a:srgbClr val="64748B"/>
                </a:solidFill>
              </a:defRPr>
            </a:pPr>
            <a:r>
              <a:t>Figure: Performance under Flash Crowds (Exp B), 500 Bursts (Exp A.3), 5% Loss (Exp C), and Probe Storms</a:t>
            </a:r>
          </a:p>
        </p:txBody>
      </p:sp>
      <p:sp>
        <p:nvSpPr>
          <p:cNvPr id="7" name="Rounded Rectangle 6"/>
          <p:cNvSpPr/>
          <p:nvPr/>
        </p:nvSpPr>
        <p:spPr>
          <a:xfrm>
            <a:off x="7132320" y="1554480"/>
            <a:ext cx="42976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691640"/>
            <a:ext cx="3931920" cy="4297680"/>
          </a:xfrm>
          <a:prstGeom prst="rect">
            <a:avLst/>
          </a:prstGeom>
          <a:noFill/>
        </p:spPr>
        <p:txBody>
          <a:bodyPr wrap="square">
            <a:spAutoFit/>
          </a:bodyPr>
          <a:lstStyle/>
          <a:p>
            <a:pPr>
              <a:spcAft>
                <a:spcPts val="800"/>
              </a:spcAft>
              <a:defRPr sz="1300" b="1">
                <a:solidFill>
                  <a:srgbClr val="0F172A"/>
                </a:solidFill>
              </a:defRPr>
            </a:pPr>
            <a:r>
              <a:t>Deep-Dive Discoveries</a:t>
            </a:r>
          </a:p>
          <a:p>
            <a:pPr>
              <a:spcAft>
                <a:spcPts val="700"/>
              </a:spcAft>
            </a:pPr>
            <a:r>
              <a:rPr b="1">
                <a:solidFill>
                  <a:srgbClr val="2563EB"/>
                </a:solidFill>
              </a:rPr>
              <a:t>• </a:t>
            </a:r>
            <a:r>
              <a:rPr b="1" sz="1100">
                <a:solidFill>
                  <a:srgbClr val="0F172A"/>
                </a:solidFill>
              </a:rPr>
              <a:t>Hydraulic Relief Valve (Exp B): </a:t>
            </a:r>
            <a:r>
              <a:rPr sz="1100">
                <a:solidFill>
                  <a:srgbClr val="1E293B"/>
                </a:solidFill>
              </a:rPr>
              <a:t>At 200–250 client flash crowds, Load-Aware beats BOTH static baselines simultaneously (337.7 ms vs 759.4 ms IACK and 920.9 ms WFC). Early arrivals get fast IACK; subsequent arrivals coalesce into WFC, protecting socket queues.</a:t>
            </a:r>
          </a:p>
          <a:p>
            <a:pPr>
              <a:spcAft>
                <a:spcPts val="700"/>
              </a:spcAft>
            </a:pPr>
            <a:r>
              <a:rPr b="1">
                <a:solidFill>
                  <a:srgbClr val="2563EB"/>
                </a:solidFill>
              </a:rPr>
              <a:t>• </a:t>
            </a:r>
            <a:r>
              <a:rPr b="1" sz="1100">
                <a:solidFill>
                  <a:srgbClr val="0F172A"/>
                </a:solidFill>
              </a:rPr>
              <a:t>Loss Recovery Penalty (Exp C): </a:t>
            </a:r>
            <a:r>
              <a:rPr sz="1100">
                <a:solidFill>
                  <a:srgbClr val="1E293B"/>
                </a:solidFill>
              </a:rPr>
              <a:t>Under 5% loss, WFC inflates initial PTO, stalling tail latency to 328.6 ms. Load-Aware maintains true RTT calibration, recovering in 129.9 ms (60.5% faster).</a:t>
            </a:r>
          </a:p>
          <a:p>
            <a:pPr>
              <a:spcAft>
                <a:spcPts val="700"/>
              </a:spcAft>
            </a:pPr>
            <a:r>
              <a:rPr b="1">
                <a:solidFill>
                  <a:srgbClr val="2563EB"/>
                </a:solidFill>
              </a:rPr>
              <a:t>• </a:t>
            </a:r>
            <a:r>
              <a:rPr b="1" sz="1100">
                <a:solidFill>
                  <a:srgbClr val="0F172A"/>
                </a:solidFill>
              </a:rPr>
              <a:t>CPU vs Socket Contention (Exp A.1): </a:t>
            </a:r>
            <a:r>
              <a:rPr sz="1100">
                <a:solidFill>
                  <a:srgbClr val="1E293B"/>
                </a:solidFill>
              </a:rPr>
              <a:t>Pegging 8 CPU cores at 100% showed &lt;1ms variance. Handshake collapse is driven by UDP socket buffer congestion and sendmsg syscall volume, not background compute.</a:t>
            </a:r>
          </a:p>
          <a:p>
            <a:pPr>
              <a:spcAft>
                <a:spcPts val="700"/>
              </a:spcAft>
            </a:pPr>
            <a:r>
              <a:rPr b="1">
                <a:solidFill>
                  <a:srgbClr val="2563EB"/>
                </a:solidFill>
              </a:rPr>
              <a:t>• </a:t>
            </a:r>
            <a:r>
              <a:rPr b="1" sz="1100">
                <a:solidFill>
                  <a:srgbClr val="0F172A"/>
                </a:solidFill>
              </a:rPr>
              <a:t>Hysteresis Stability (Exp D): </a:t>
            </a:r>
            <a:r>
              <a:rPr sz="1100">
                <a:solidFill>
                  <a:srgbClr val="1E293B"/>
                </a:solidFill>
              </a:rPr>
              <a:t>Across 7 alternating surge/peacetime waves, the deadband showed zero mode-flapping.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2560320" cy="292608"/>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FUTURE WORK &amp; NEXT DIRECTIONS</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0F172A"/>
                </a:solidFill>
              </a:defRPr>
            </a:pPr>
            <a:r>
              <a:t>Future Work 2: Load-Aware v2 Innovations &amp; Research Roadmap</a:t>
            </a:r>
          </a:p>
          <a:p>
            <a:pPr>
              <a:defRPr sz="1200" i="1">
                <a:solidFill>
                  <a:srgbClr val="64748B"/>
                </a:solidFill>
              </a:defRPr>
            </a:pPr>
            <a:r>
              <a:t>Lock-free fast paths, arrival velocity prediction (dLoad/dt), token-bucket pacing, and Milestone 3 plans.</a:t>
            </a:r>
          </a:p>
        </p:txBody>
      </p:sp>
      <p:sp>
        <p:nvSpPr>
          <p:cNvPr id="4" name="TextBox 3"/>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COL724 / COL7524: Advanced Computer Networks (IIT Delhi)  |  Ayush Arya  |  Slide 20 of 21</a:t>
            </a:r>
          </a:p>
        </p:txBody>
      </p:sp>
      <p:pic>
        <p:nvPicPr>
          <p:cNvPr id="5" name="Picture 4" descr="diag_v1_vs_v2_comparison.png"/>
          <p:cNvPicPr>
            <a:picLocks noChangeAspect="1"/>
          </p:cNvPicPr>
          <p:nvPr/>
        </p:nvPicPr>
        <p:blipFill>
          <a:blip r:embed="rId2"/>
          <a:stretch>
            <a:fillRect/>
          </a:stretch>
        </p:blipFill>
        <p:spPr>
          <a:xfrm>
            <a:off x="731520" y="1554480"/>
            <a:ext cx="6217920" cy="4572000"/>
          </a:xfrm>
          <a:prstGeom prst="rect">
            <a:avLst/>
          </a:prstGeom>
        </p:spPr>
      </p:pic>
      <p:sp>
        <p:nvSpPr>
          <p:cNvPr id="6" name="TextBox 5"/>
          <p:cNvSpPr txBox="1"/>
          <p:nvPr/>
        </p:nvSpPr>
        <p:spPr>
          <a:xfrm>
            <a:off x="731520" y="6172200"/>
            <a:ext cx="6217920" cy="274320"/>
          </a:xfrm>
          <a:prstGeom prst="rect">
            <a:avLst/>
          </a:prstGeom>
          <a:noFill/>
        </p:spPr>
        <p:txBody>
          <a:bodyPr wrap="none">
            <a:spAutoFit/>
          </a:bodyPr>
          <a:lstStyle/>
          <a:p>
            <a:pPr algn="ctr">
              <a:defRPr sz="950" i="1">
                <a:solidFill>
                  <a:srgbClr val="64748B"/>
                </a:solidFill>
              </a:defRPr>
            </a:pPr>
            <a:r>
              <a:t>Figure: Head-to-Head Benchmark: Load-Aware v1 vs. v2 across Flash Crowds, Surges, Jitter, and Probe Storms</a:t>
            </a:r>
          </a:p>
        </p:txBody>
      </p:sp>
      <p:sp>
        <p:nvSpPr>
          <p:cNvPr id="7" name="Rounded Rectangle 6"/>
          <p:cNvSpPr/>
          <p:nvPr/>
        </p:nvSpPr>
        <p:spPr>
          <a:xfrm>
            <a:off x="7132320" y="1554480"/>
            <a:ext cx="42976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691640"/>
            <a:ext cx="3931920" cy="4297680"/>
          </a:xfrm>
          <a:prstGeom prst="rect">
            <a:avLst/>
          </a:prstGeom>
          <a:noFill/>
        </p:spPr>
        <p:txBody>
          <a:bodyPr wrap="square">
            <a:spAutoFit/>
          </a:bodyPr>
          <a:lstStyle/>
          <a:p>
            <a:pPr>
              <a:spcAft>
                <a:spcPts val="800"/>
              </a:spcAft>
              <a:defRPr sz="1300" b="1">
                <a:solidFill>
                  <a:srgbClr val="0F172A"/>
                </a:solidFill>
              </a:defRPr>
            </a:pPr>
            <a:r>
              <a:t>v2 Innovations &amp; Milestone 3 Roadmap</a:t>
            </a:r>
          </a:p>
          <a:p>
            <a:pPr>
              <a:spcAft>
                <a:spcPts val="700"/>
              </a:spcAft>
            </a:pPr>
            <a:r>
              <a:rPr b="1">
                <a:solidFill>
                  <a:srgbClr val="2563EB"/>
                </a:solidFill>
              </a:rPr>
              <a:t>• </a:t>
            </a:r>
            <a:r>
              <a:rPr b="1" sz="1100">
                <a:solidFill>
                  <a:srgbClr val="0F172A"/>
                </a:solidFill>
              </a:rPr>
              <a:t>Lock-Free Fast Path: </a:t>
            </a:r>
            <a:r>
              <a:rPr sz="1100">
                <a:solidFill>
                  <a:srgbClr val="1E293B"/>
                </a:solidFill>
              </a:rPr>
              <a:t>Replaced mutex locks with 32-bit atomic CAS state registers (loadmonitor_v2.go). Decision latency plummeted from ~150ns to &lt;5ns (30x faster).</a:t>
            </a:r>
          </a:p>
          <a:p>
            <a:pPr>
              <a:spcAft>
                <a:spcPts val="700"/>
              </a:spcAft>
            </a:pPr>
            <a:r>
              <a:rPr b="1">
                <a:solidFill>
                  <a:srgbClr val="2563EB"/>
                </a:solidFill>
              </a:rPr>
              <a:t>• </a:t>
            </a:r>
            <a:r>
              <a:rPr b="1" sz="1100">
                <a:solidFill>
                  <a:srgbClr val="0F172A"/>
                </a:solidFill>
              </a:rPr>
              <a:t>Arrival Velocity Derivative (dLoad/dt): </a:t>
            </a:r>
            <a:r>
              <a:rPr sz="1100">
                <a:solidFill>
                  <a:srgbClr val="1E293B"/>
                </a:solidFill>
              </a:rPr>
              <a:t>Uses EWMA arrival rate velocity: L_eff = H_active + α × (ΔArr/Δt). Pre-emptively shifts to WFC before socket queues overflow.</a:t>
            </a:r>
          </a:p>
          <a:p>
            <a:pPr>
              <a:spcAft>
                <a:spcPts val="700"/>
              </a:spcAft>
            </a:pPr>
            <a:r>
              <a:rPr b="1">
                <a:solidFill>
                  <a:srgbClr val="2563EB"/>
                </a:solidFill>
              </a:rPr>
              <a:t>• </a:t>
            </a:r>
            <a:r>
              <a:rPr b="1" sz="1100">
                <a:solidFill>
                  <a:srgbClr val="0F172A"/>
                </a:solidFill>
              </a:rPr>
              <a:t>Token-Bucket Burst Pacer: </a:t>
            </a:r>
            <a:r>
              <a:rPr sz="1100">
                <a:solidFill>
                  <a:srgbClr val="1E293B"/>
                </a:solidFill>
              </a:rPr>
              <a:t>Bounds uncoalesced ACK pairs during micro-bursts, preventing momentary buffer drops.</a:t>
            </a:r>
          </a:p>
          <a:p>
            <a:pPr>
              <a:spcAft>
                <a:spcPts val="700"/>
              </a:spcAft>
            </a:pPr>
            <a:r>
              <a:rPr b="1">
                <a:solidFill>
                  <a:srgbClr val="2563EB"/>
                </a:solidFill>
              </a:rPr>
              <a:t>• </a:t>
            </a:r>
            <a:r>
              <a:rPr b="1" sz="1100">
                <a:solidFill>
                  <a:srgbClr val="0F172A"/>
                </a:solidFill>
              </a:rPr>
              <a:t>Head-to-Head Gains: </a:t>
            </a:r>
            <a:r>
              <a:rPr sz="1100">
                <a:solidFill>
                  <a:srgbClr val="1E293B"/>
                </a:solidFill>
              </a:rPr>
              <a:t>In 100-client flash crowds, v2 is 32.1% faster than v1 (203 ms vs 299 ms) and halves spurious PTO probes (44 vs 88). In 5k overload, suppresses 1,763 probes (36.2% cut).</a:t>
            </a:r>
          </a:p>
          <a:p>
            <a:pPr>
              <a:spcAft>
                <a:spcPts val="700"/>
              </a:spcAft>
            </a:pPr>
            <a:r>
              <a:rPr b="1">
                <a:solidFill>
                  <a:srgbClr val="2563EB"/>
                </a:solidFill>
              </a:rPr>
              <a:t>• </a:t>
            </a:r>
            <a:r>
              <a:rPr b="1" sz="1100">
                <a:solidFill>
                  <a:srgbClr val="0F172A"/>
                </a:solidFill>
              </a:rPr>
              <a:t>Milestone 3 Roadmap: </a:t>
            </a:r>
            <a:r>
              <a:rPr sz="1100">
                <a:solidFill>
                  <a:srgbClr val="1E293B"/>
                </a:solidFill>
              </a:rPr>
              <a:t>Rigorous multi-client wide-area Internet testbeds, kernel eBPF socket queue depth integration, and refining logic towards v3.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2560320" cy="292608"/>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CONCLUSION &amp; DEFENSE</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0F172A"/>
                </a:solidFill>
              </a:defRPr>
            </a:pPr>
            <a:r>
              <a:t>Summary, Live Demonstration &amp; Q&amp;A Defense Sheet</a:t>
            </a:r>
          </a:p>
          <a:p>
            <a:pPr>
              <a:defRPr sz="1200" i="1">
                <a:solidFill>
                  <a:srgbClr val="64748B"/>
                </a:solidFill>
              </a:defRPr>
            </a:pPr>
            <a:r>
              <a:t>Balancing handshake latency and server overhead through dynamic closed-loop load awareness.</a:t>
            </a:r>
          </a:p>
        </p:txBody>
      </p:sp>
      <p:sp>
        <p:nvSpPr>
          <p:cNvPr id="4" name="TextBox 3"/>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COL724 / COL7524: Advanced Computer Networks (IIT Delhi)  |  Muhammed Nishad &amp; Ayush Arya  |  Slide 21 of 21</a:t>
            </a:r>
          </a:p>
        </p:txBody>
      </p:sp>
      <p:sp>
        <p:nvSpPr>
          <p:cNvPr id="5" name="Rounded Rectangle 4"/>
          <p:cNvSpPr/>
          <p:nvPr/>
        </p:nvSpPr>
        <p:spPr>
          <a:xfrm>
            <a:off x="731520" y="1554480"/>
            <a:ext cx="512064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754880" cy="4297680"/>
          </a:xfrm>
          <a:prstGeom prst="rect">
            <a:avLst/>
          </a:prstGeom>
          <a:noFill/>
        </p:spPr>
        <p:txBody>
          <a:bodyPr wrap="square">
            <a:spAutoFit/>
          </a:bodyPr>
          <a:lstStyle/>
          <a:p>
            <a:pPr>
              <a:spcAft>
                <a:spcPts val="800"/>
              </a:spcAft>
              <a:defRPr sz="1300" b="1">
                <a:solidFill>
                  <a:srgbClr val="0F172A"/>
                </a:solidFill>
              </a:defRPr>
            </a:pPr>
            <a:r>
              <a:t>Key Takeaways</a:t>
            </a:r>
          </a:p>
          <a:p>
            <a:pPr>
              <a:spcAft>
                <a:spcPts val="700"/>
              </a:spcAft>
            </a:pPr>
            <a:r>
              <a:rPr b="1">
                <a:solidFill>
                  <a:srgbClr val="2563EB"/>
                </a:solidFill>
              </a:rPr>
              <a:t>• </a:t>
            </a:r>
            <a:r>
              <a:rPr b="1" sz="1100">
                <a:solidFill>
                  <a:srgbClr val="0F172A"/>
                </a:solidFill>
              </a:rPr>
              <a:t>Core Problem Solved: </a:t>
            </a:r>
            <a:r>
              <a:rPr sz="1100">
                <a:solidFill>
                  <a:srgbClr val="1E293B"/>
                </a:solidFill>
              </a:rPr>
              <a:t>Static Instant ACK creates severe probe storms and socket buffer drops under load. Static WFC inflicts a 3×Δt penalty on loss recovery.</a:t>
            </a:r>
          </a:p>
          <a:p>
            <a:pPr>
              <a:spcAft>
                <a:spcPts val="700"/>
              </a:spcAft>
            </a:pPr>
            <a:r>
              <a:rPr b="1">
                <a:solidFill>
                  <a:srgbClr val="2563EB"/>
                </a:solidFill>
              </a:rPr>
              <a:t>• </a:t>
            </a:r>
            <a:r>
              <a:rPr b="1" sz="1100">
                <a:solidFill>
                  <a:srgbClr val="0F172A"/>
                </a:solidFill>
              </a:rPr>
              <a:t>Our Contribution: </a:t>
            </a:r>
            <a:r>
              <a:rPr sz="1100">
                <a:solidFill>
                  <a:srgbClr val="1E293B"/>
                </a:solidFill>
              </a:rPr>
              <a:t>Load-Aware QUIC dynamically balances low latency and server resilience using a Schmitt-trigger hysteresis deadband [4, 8].</a:t>
            </a:r>
          </a:p>
          <a:p>
            <a:pPr>
              <a:spcAft>
                <a:spcPts val="700"/>
              </a:spcAft>
            </a:pPr>
            <a:r>
              <a:rPr b="1">
                <a:solidFill>
                  <a:srgbClr val="2563EB"/>
                </a:solidFill>
              </a:rPr>
              <a:t>• </a:t>
            </a:r>
            <a:r>
              <a:rPr b="1" sz="1100">
                <a:solidFill>
                  <a:srgbClr val="0F172A"/>
                </a:solidFill>
              </a:rPr>
              <a:t>Empirical Results: </a:t>
            </a:r>
            <a:r>
              <a:rPr sz="1100">
                <a:solidFill>
                  <a:srgbClr val="1E293B"/>
                </a:solidFill>
              </a:rPr>
              <a:t>Cuts latency by ~20% under concurrency, dominates 100% of the 2D parameter space, and outperforms both baselines in flash crowds.</a:t>
            </a:r>
          </a:p>
          <a:p>
            <a:pPr>
              <a:spcAft>
                <a:spcPts val="700"/>
              </a:spcAft>
            </a:pPr>
            <a:r>
              <a:rPr b="1">
                <a:solidFill>
                  <a:srgbClr val="2563EB"/>
                </a:solidFill>
              </a:rPr>
              <a:t>• </a:t>
            </a:r>
            <a:r>
              <a:rPr b="1" sz="1100">
                <a:solidFill>
                  <a:srgbClr val="0F172A"/>
                </a:solidFill>
              </a:rPr>
              <a:t>Protocol Compatibility: </a:t>
            </a:r>
            <a:r>
              <a:rPr sz="1100">
                <a:solidFill>
                  <a:srgbClr val="1E293B"/>
                </a:solidFill>
              </a:rPr>
              <a:t>100% RFC 9000/9002 compliant with zero client-side modifications.</a:t>
            </a:r>
          </a:p>
        </p:txBody>
      </p:sp>
      <p:sp>
        <p:nvSpPr>
          <p:cNvPr id="7" name="Rounded Rectangle 6"/>
          <p:cNvSpPr/>
          <p:nvPr/>
        </p:nvSpPr>
        <p:spPr>
          <a:xfrm>
            <a:off x="6217920" y="1554480"/>
            <a:ext cx="52120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4297680"/>
          </a:xfrm>
          <a:prstGeom prst="rect">
            <a:avLst/>
          </a:prstGeom>
          <a:noFill/>
        </p:spPr>
        <p:txBody>
          <a:bodyPr wrap="square">
            <a:spAutoFit/>
          </a:bodyPr>
          <a:lstStyle/>
          <a:p>
            <a:pPr>
              <a:spcAft>
                <a:spcPts val="800"/>
              </a:spcAft>
              <a:defRPr sz="1300" b="1">
                <a:solidFill>
                  <a:srgbClr val="0F172A"/>
                </a:solidFill>
              </a:defRPr>
            </a:pPr>
            <a:r>
              <a:t>Top Presentation Defense Q&amp;A</a:t>
            </a:r>
          </a:p>
          <a:p>
            <a:pPr>
              <a:spcAft>
                <a:spcPts val="700"/>
              </a:spcAft>
            </a:pPr>
            <a:r>
              <a:rPr b="1">
                <a:solidFill>
                  <a:srgbClr val="2563EB"/>
                </a:solidFill>
              </a:rPr>
              <a:t>• </a:t>
            </a:r>
            <a:r>
              <a:rPr b="1" sz="1100">
                <a:solidFill>
                  <a:srgbClr val="0F172A"/>
                </a:solidFill>
              </a:rPr>
              <a:t>Q1: Why thresholds [4, 8]?: </a:t>
            </a:r>
            <a:r>
              <a:rPr sz="1100">
                <a:solidFill>
                  <a:srgbClr val="1E293B"/>
                </a:solidFill>
              </a:rPr>
              <a:t>Swept in Exp 7 across [2,4] to [15,30]. [4,8] provided the optimal trade-off between fast responsiveness and zero mode-flapping.</a:t>
            </a:r>
          </a:p>
          <a:p>
            <a:pPr>
              <a:spcAft>
                <a:spcPts val="700"/>
              </a:spcAft>
            </a:pPr>
            <a:r>
              <a:rPr b="1">
                <a:solidFill>
                  <a:srgbClr val="2563EB"/>
                </a:solidFill>
              </a:rPr>
              <a:t>• </a:t>
            </a:r>
            <a:r>
              <a:rPr b="1" sz="1100">
                <a:solidFill>
                  <a:srgbClr val="0F172A"/>
                </a:solidFill>
              </a:rPr>
              <a:t>Q2: Why beat BOTH baselines at 200 clients?: </a:t>
            </a:r>
            <a:r>
              <a:rPr sz="1100">
                <a:solidFill>
                  <a:srgbClr val="1E293B"/>
                </a:solidFill>
              </a:rPr>
              <a:t>Hydraulic relief effect: grants fast IACK to initial arrivals, then coalesces subsequent arrivals to protect the socket buffer.</a:t>
            </a:r>
          </a:p>
          <a:p>
            <a:pPr>
              <a:spcAft>
                <a:spcPts val="700"/>
              </a:spcAft>
            </a:pPr>
            <a:r>
              <a:rPr b="1">
                <a:solidFill>
                  <a:srgbClr val="2563EB"/>
                </a:solidFill>
              </a:rPr>
              <a:t>• </a:t>
            </a:r>
            <a:r>
              <a:rPr b="1" sz="1100">
                <a:solidFill>
                  <a:srgbClr val="0F172A"/>
                </a:solidFill>
              </a:rPr>
              <a:t>Q3: Why not just increase socket buffer size?: </a:t>
            </a:r>
            <a:r>
              <a:rPr sz="1100">
                <a:solidFill>
                  <a:srgbClr val="1E293B"/>
                </a:solidFill>
              </a:rPr>
              <a:t>Bufferbloat! Massive queues delay cert packets anyway, triggering premature client PTO timeouts. Switching policies cuts syscalls at the source.</a:t>
            </a:r>
          </a:p>
          <a:p>
            <a:pPr>
              <a:spcAft>
                <a:spcPts val="700"/>
              </a:spcAft>
            </a:pPr>
            <a:r>
              <a:rPr b="1">
                <a:solidFill>
                  <a:srgbClr val="2563EB"/>
                </a:solidFill>
              </a:rPr>
              <a:t>• </a:t>
            </a:r>
            <a:r>
              <a:rPr b="1" sz="1100">
                <a:solidFill>
                  <a:srgbClr val="0F172A"/>
                </a:solidFill>
              </a:rPr>
              <a:t>Q4: Why pin to Go 1.20?: </a:t>
            </a:r>
            <a:r>
              <a:rPr sz="1100">
                <a:solidFill>
                  <a:srgbClr val="1E293B"/>
                </a:solidFill>
              </a:rPr>
              <a:t>Upstream qtls patches Go's crypto/tls memory layout to expose internal handshake secrets.</a:t>
            </a:r>
          </a:p>
          <a:p>
            <a:pPr>
              <a:spcAft>
                <a:spcPts val="700"/>
              </a:spcAft>
            </a:pPr>
            <a:r>
              <a:rPr b="1">
                <a:solidFill>
                  <a:srgbClr val="2563EB"/>
                </a:solidFill>
              </a:rPr>
              <a:t>• </a:t>
            </a:r>
            <a:r>
              <a:rPr b="1" sz="1100">
                <a:solidFill>
                  <a:srgbClr val="0F172A"/>
                </a:solidFill>
              </a:rPr>
              <a:t>Thank You!: </a:t>
            </a:r>
            <a:r>
              <a:rPr sz="1100">
                <a:solidFill>
                  <a:srgbClr val="1E293B"/>
                </a:solidFill>
              </a:rPr>
              <a:t>We welcome your questions and feedback.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